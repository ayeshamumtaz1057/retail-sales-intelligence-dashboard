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 %</c:v>
                </c:pt>
              </c:strCache>
            </c:strRef>
          </c:tx>
          <c:spPr>
            <a:solidFill>
              <a:srgbClr val="16A888"/>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16A888"/>
              </a:solidFill>
              <a:effectLst/>
            </c:spPr>
          </c:dPt>
          <c:dPt>
            <c:idx val="1"/>
            <c:invertIfNegative val="0"/>
            <c:bubble3D val="0"/>
            <c:spPr>
              <a:solidFill>
                <a:srgbClr val="16A888"/>
              </a:solidFill>
              <a:effectLst/>
            </c:spPr>
          </c:dPt>
          <c:dPt>
            <c:idx val="2"/>
            <c:invertIfNegative val="0"/>
            <c:bubble3D val="0"/>
            <c:spPr>
              <a:solidFill>
                <a:srgbClr val="16A888"/>
              </a:solidFill>
              <a:effectLst/>
            </c:spPr>
          </c:dPt>
          <c:dPt>
            <c:idx val="3"/>
            <c:invertIfNegative val="0"/>
            <c:bubble3D val="0"/>
            <c:spPr>
              <a:solidFill>
                <a:srgbClr val="E03131"/>
              </a:solidFill>
              <a:effectLst/>
            </c:spPr>
          </c:dPt>
          <c:dPt>
            <c:idx val="4"/>
            <c:invertIfNegative val="0"/>
            <c:bubble3D val="0"/>
            <c:spPr>
              <a:solidFill>
                <a:srgbClr val="E03131"/>
              </a:solidFill>
              <a:effectLst/>
            </c:spPr>
          </c:dPt>
          <c:cat>
            <c:multiLvlStrRef>
              <c:f>Sheet1!$A$2:$A$6</c:f>
              <c:multiLvlStrCache>
                <c:ptCount val="5"/>
                <c:lvl>
                  <c:pt idx="0">
                    <c:v>No discount</c:v>
                  </c:pt>
                  <c:pt idx="1">
                    <c:v>1–15%</c:v>
                  </c:pt>
                  <c:pt idx="2">
                    <c:v>16–30%</c:v>
                  </c:pt>
                  <c:pt idx="3">
                    <c:v>31–50%</c:v>
                  </c:pt>
                  <c:pt idx="4">
                    <c:v>50%+</c:v>
                  </c:pt>
                </c:lvl>
              </c:multiLvlStrCache>
            </c:multiLvlStrRef>
          </c:cat>
          <c:val>
            <c:numRef>
              <c:f>Sheet1!$B$2:$B$6</c:f>
              <c:numCache>
                <c:formatCode>General</c:formatCode>
                <c:ptCount val="5"/>
                <c:pt idx="0">
                  <c:v>29.5</c:v>
                </c:pt>
                <c:pt idx="1">
                  <c:v>12.8</c:v>
                </c:pt>
                <c:pt idx="2">
                  <c:v>9.2</c:v>
                </c:pt>
                <c:pt idx="3">
                  <c:v>-24.8</c:v>
                </c:pt>
                <c:pt idx="4">
                  <c:v>-119.2</c:v>
                </c:pt>
              </c:numCache>
            </c:numRef>
          </c:val>
        </c:ser>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60"/>
          <c:min val="-140"/>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sales %</c:v>
                </c:pt>
              </c:strCache>
            </c:strRef>
          </c:tx>
          <c:spPr>
            <a:solidFill>
              <a:srgbClr val="2F6FED"/>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Technology</c:v>
                  </c:pt>
                  <c:pt idx="1">
                    <c:v>Furniture</c:v>
                  </c:pt>
                  <c:pt idx="2">
                    <c:v>Office Supplies</c:v>
                  </c:pt>
                </c:lvl>
              </c:multiLvlStrCache>
            </c:multiLvlStrRef>
          </c:cat>
          <c:val>
            <c:numRef>
              <c:f>Sheet1!$B$2:$B$4</c:f>
              <c:numCache>
                <c:formatCode>General</c:formatCode>
                <c:ptCount val="3"/>
                <c:pt idx="0">
                  <c:v>36.4</c:v>
                </c:pt>
                <c:pt idx="1">
                  <c:v>32.3</c:v>
                </c:pt>
                <c:pt idx="2">
                  <c:v>31.3</c:v>
                </c:pt>
              </c:numCache>
            </c:numRef>
          </c:val>
        </c:ser>
        <c:ser>
          <c:idx val="1"/>
          <c:order val="1"/>
          <c:tx>
            <c:strRef>
              <c:f>Sheet1!$C$1</c:f>
              <c:strCache>
                <c:ptCount val="1"/>
                <c:pt idx="0">
                  <c:v>Profit margin %</c:v>
                </c:pt>
              </c:strCache>
            </c:strRef>
          </c:tx>
          <c:spPr>
            <a:solidFill>
              <a:srgbClr val="16A888"/>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Technology</c:v>
                  </c:pt>
                  <c:pt idx="1">
                    <c:v>Furniture</c:v>
                  </c:pt>
                  <c:pt idx="2">
                    <c:v>Office Supplies</c:v>
                  </c:pt>
                </c:lvl>
              </c:multiLvlStrCache>
            </c:multiLvlStrRef>
          </c:cat>
          <c:val>
            <c:numRef>
              <c:f>Sheet1!$C$2:$C$4</c:f>
              <c:numCache>
                <c:formatCode>General</c:formatCode>
                <c:ptCount val="3"/>
                <c:pt idx="0">
                  <c:v>17.4</c:v>
                </c:pt>
                <c:pt idx="1">
                  <c:v>2.5</c:v>
                </c:pt>
                <c:pt idx="2">
                  <c:v>17</c:v>
                </c:pt>
              </c:numCache>
            </c:numRef>
          </c:val>
        </c:ser>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discount %</c:v>
                </c:pt>
              </c:strCache>
            </c:strRef>
          </c:tx>
          <c:spPr>
            <a:solidFill>
              <a:srgbClr val="F5B820"/>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West</c:v>
                  </c:pt>
                  <c:pt idx="1">
                    <c:v>East</c:v>
                  </c:pt>
                  <c:pt idx="2">
                    <c:v>South</c:v>
                  </c:pt>
                  <c:pt idx="3">
                    <c:v>Central</c:v>
                  </c:pt>
                </c:lvl>
              </c:multiLvlStrCache>
            </c:multiLvlStrRef>
          </c:cat>
          <c:val>
            <c:numRef>
              <c:f>Sheet1!$B$2:$B$5</c:f>
              <c:numCache>
                <c:formatCode>General</c:formatCode>
                <c:ptCount val="4"/>
                <c:pt idx="0">
                  <c:v>10.9</c:v>
                </c:pt>
                <c:pt idx="1">
                  <c:v>14.5</c:v>
                </c:pt>
                <c:pt idx="2">
                  <c:v>14.7</c:v>
                </c:pt>
                <c:pt idx="3">
                  <c:v>24</c:v>
                </c:pt>
              </c:numCache>
            </c:numRef>
          </c:val>
        </c:ser>
        <c:ser>
          <c:idx val="1"/>
          <c:order val="1"/>
          <c:tx>
            <c:strRef>
              <c:f>Sheet1!$C$1</c:f>
              <c:strCache>
                <c:ptCount val="1"/>
                <c:pt idx="0">
                  <c:v>Profit margin %</c:v>
                </c:pt>
              </c:strCache>
            </c:strRef>
          </c:tx>
          <c:spPr>
            <a:solidFill>
              <a:srgbClr val="16A888"/>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West</c:v>
                  </c:pt>
                  <c:pt idx="1">
                    <c:v>East</c:v>
                  </c:pt>
                  <c:pt idx="2">
                    <c:v>South</c:v>
                  </c:pt>
                  <c:pt idx="3">
                    <c:v>Central</c:v>
                  </c:pt>
                </c:lvl>
              </c:multiLvlStrCache>
            </c:multiLvlStrRef>
          </c:cat>
          <c:val>
            <c:numRef>
              <c:f>Sheet1!$C$2:$C$5</c:f>
              <c:numCache>
                <c:formatCode>General</c:formatCode>
                <c:ptCount val="4"/>
                <c:pt idx="0">
                  <c:v>14.94</c:v>
                </c:pt>
                <c:pt idx="1">
                  <c:v>13.49</c:v>
                </c:pt>
                <c:pt idx="2">
                  <c:v>11.93</c:v>
                </c:pt>
                <c:pt idx="3">
                  <c:v>7.92</c:v>
                </c:pt>
              </c:numCache>
            </c:numRef>
          </c:val>
        </c:ser>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32"/>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2F6FED"/>
            </a:solidFill>
            <a:effectLst/>
          </c:spPr>
          <c:invertIfNegative val="0"/>
          <c:dLbls>
            <c:numFmt formatCode="$#,##0,&quot;K&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2015</c:v>
                  </c:pt>
                  <c:pt idx="1">
                    <c:v>2016</c:v>
                  </c:pt>
                  <c:pt idx="2">
                    <c:v>2017</c:v>
                  </c:pt>
                  <c:pt idx="3">
                    <c:v>2018</c:v>
                  </c:pt>
                </c:lvl>
              </c:multiLvlStrCache>
            </c:multiLvlStrRef>
          </c:cat>
          <c:val>
            <c:numRef>
              <c:f>Sheet1!$B$2:$B$5</c:f>
              <c:numCache>
                <c:formatCode>General</c:formatCode>
                <c:ptCount val="4"/>
                <c:pt idx="0">
                  <c:v>483966</c:v>
                </c:pt>
                <c:pt idx="1">
                  <c:v>470533</c:v>
                </c:pt>
                <c:pt idx="2">
                  <c:v>609206</c:v>
                </c:pt>
                <c:pt idx="3">
                  <c:v>733215</c:v>
                </c:pt>
              </c:numCache>
            </c:numRef>
          </c:val>
        </c:ser>
        <c:dLbls>
          <c:numFmt formatCode="$#,##0,&quot;K&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customers</c:v>
                </c:pt>
              </c:strCache>
            </c:strRef>
          </c:tx>
          <c:spPr>
            <a:solidFill>
              <a:srgbClr val="7B45C9"/>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Champion</c:v>
                  </c:pt>
                  <c:pt idx="1">
                    <c:v>Loyal</c:v>
                  </c:pt>
                  <c:pt idx="2">
                    <c:v>Potential</c:v>
                  </c:pt>
                  <c:pt idx="3">
                    <c:v>At Risk</c:v>
                  </c:pt>
                </c:lvl>
              </c:multiLvlStrCache>
            </c:multiLvlStrRef>
          </c:cat>
          <c:val>
            <c:numRef>
              <c:f>Sheet1!$B$2:$B$5</c:f>
              <c:numCache>
                <c:formatCode>General</c:formatCode>
                <c:ptCount val="4"/>
                <c:pt idx="0">
                  <c:v>15.6</c:v>
                </c:pt>
                <c:pt idx="1">
                  <c:v>32</c:v>
                </c:pt>
                <c:pt idx="2">
                  <c:v>27.6</c:v>
                </c:pt>
                <c:pt idx="3">
                  <c:v>24.7</c:v>
                </c:pt>
              </c:numCache>
            </c:numRef>
          </c:val>
        </c:ser>
        <c:ser>
          <c:idx val="1"/>
          <c:order val="1"/>
          <c:tx>
            <c:strRef>
              <c:f>Sheet1!$C$1</c:f>
              <c:strCache>
                <c:ptCount val="1"/>
                <c:pt idx="0">
                  <c:v>% of revenue</c:v>
                </c:pt>
              </c:strCache>
            </c:strRef>
          </c:tx>
          <c:spPr>
            <a:solidFill>
              <a:srgbClr val="16A888"/>
            </a:solidFill>
            <a:effectLst/>
          </c:spPr>
          <c:invertIfNegative val="0"/>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Champion</c:v>
                  </c:pt>
                  <c:pt idx="1">
                    <c:v>Loyal</c:v>
                  </c:pt>
                  <c:pt idx="2">
                    <c:v>Potential</c:v>
                  </c:pt>
                  <c:pt idx="3">
                    <c:v>At Risk</c:v>
                  </c:pt>
                </c:lvl>
              </c:multiLvlStrCache>
            </c:multiLvlStrRef>
          </c:cat>
          <c:val>
            <c:numRef>
              <c:f>Sheet1!$C$2:$C$5</c:f>
              <c:numCache>
                <c:formatCode>General</c:formatCode>
                <c:ptCount val="4"/>
                <c:pt idx="0">
                  <c:v>28.2</c:v>
                </c:pt>
                <c:pt idx="1">
                  <c:v>42.8</c:v>
                </c:pt>
                <c:pt idx="2">
                  <c:v>20.6</c:v>
                </c:pt>
                <c:pt idx="3">
                  <c:v>8.4</c:v>
                </c:pt>
              </c:numCache>
            </c:numRef>
          </c:val>
        </c:ser>
        <c:dLbls>
          <c:numFmt formatCode="0.0&quot;%&quot;" sourceLinked="0"/>
          <c:txPr>
            <a:bodyPr/>
            <a:lstStyle/>
            <a:p>
              <a:pPr>
                <a:defRPr b="1" i="0" strike="noStrike" sz="11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55"/>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Simulated profit</c:v>
                </c:pt>
              </c:strCache>
            </c:strRef>
          </c:tx>
          <c:spPr>
            <a:solidFill>
              <a:srgbClr val="7B45C9"/>
            </a:solidFill>
            <a:ln w="38100" cap="flat">
              <a:solidFill>
                <a:srgbClr val="7B45C9"/>
              </a:solidFill>
              <a:prstDash val="solid"/>
              <a:round/>
            </a:ln>
            <a:effectLst/>
          </c:spPr>
          <c:invertIfNegative val="0"/>
          <c:dLbls>
            <c:numFmt formatCode="$#,##0,&quot;K&quot;" sourceLinked="0"/>
            <c:txPr>
              <a:bodyPr/>
              <a:lstStyle/>
              <a:p>
                <a:pPr>
                  <a:defRPr b="1"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6"/>
            <c:spPr>
              <a:solidFill>
                <a:srgbClr val="7B45C9"/>
              </a:solidFill>
              <a:ln w="9525" cap="flat">
                <a:solidFill>
                  <a:srgbClr val="7B45C9"/>
                </a:solidFill>
                <a:prstDash val="solid"/>
                <a:round/>
              </a:ln>
              <a:effectLst/>
            </c:spPr>
          </c:marker>
          <c:cat>
            <c:multiLvlStrRef>
              <c:f>Sheet1!$A$2:$A$8</c:f>
              <c:multiLvlStrCache>
                <c:ptCount val="7"/>
                <c:lvl>
                  <c:pt idx="0">
                    <c:v>No cap</c:v>
                  </c:pt>
                  <c:pt idx="1">
                    <c:v>70%</c:v>
                  </c:pt>
                  <c:pt idx="2">
                    <c:v>50%</c:v>
                  </c:pt>
                  <c:pt idx="3">
                    <c:v>40%</c:v>
                  </c:pt>
                  <c:pt idx="4">
                    <c:v>30%</c:v>
                  </c:pt>
                  <c:pt idx="5">
                    <c:v>20%</c:v>
                  </c:pt>
                  <c:pt idx="6">
                    <c:v>10%</c:v>
                  </c:pt>
                </c:lvl>
              </c:multiLvlStrCache>
            </c:multiLvlStrRef>
          </c:cat>
          <c:val>
            <c:numRef>
              <c:f>Sheet1!$B$2:$B$8</c:f>
              <c:numCache>
                <c:formatCode>General</c:formatCode>
                <c:ptCount val="7"/>
                <c:pt idx="0">
                  <c:v>286409</c:v>
                </c:pt>
                <c:pt idx="1">
                  <c:v>294891</c:v>
                </c:pt>
                <c:pt idx="2">
                  <c:v>340596</c:v>
                </c:pt>
                <c:pt idx="3">
                  <c:v>376562</c:v>
                </c:pt>
                <c:pt idx="4">
                  <c:v>432855</c:v>
                </c:pt>
                <c:pt idx="5">
                  <c:v>505560</c:v>
                </c:pt>
                <c:pt idx="6">
                  <c:v>675460</c:v>
                </c:pt>
              </c:numCache>
            </c:numRef>
          </c:val>
          <c:smooth val="0"/>
        </c:ser>
        <c:dLbls>
          <c:numFmt formatCode="$#,##0,&quot;K&quot;" sourceLinked="0"/>
          <c:txPr>
            <a:bodyPr/>
            <a:lstStyle/>
            <a:p>
              <a:pPr>
                <a:defRPr b="1" i="0" strike="noStrike" sz="11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750000"/>
          <c:min val="200000"/>
        </c:scaling>
        <c:delete val="0"/>
        <c:axPos val="l"/>
        <c:majorGridlines>
          <c:spPr>
            <a:ln w="12700" cap="flat">
              <a:solidFill>
                <a:srgbClr val="E5E7EB"/>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years of transactions. The headline is that the business is growing but giving away more profit than it needs to. One policy change is worth more than any growth initiative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The rest of the deck is evidence for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this is a threshold, not a gradient. A single approval rule at 30% captures nearly all of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Furniture is not a bad business - it is a badly priced one. The discount depth explains the margin gap almost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Philadelphia is the slide that lands with a sales leader - a city everyone considers a success is destroying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matters: a pure key-account strategy would leave more than half the revenue unmanaged.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an upper bound. The pilot on slide 9 is what converts the estimate into a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meeting only gets through one slide,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limitations is what makes the rest of the numbers credible. Never present the simulation as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reframe. Growth is fine; the leak is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F4F"/>
        </a:solidFill>
      </p:bgPr>
    </p:bg>
    <p:spTree>
      <p:nvGrpSpPr>
        <p:cNvPr id="1" name=""/>
        <p:cNvGrpSpPr/>
        <p:nvPr/>
      </p:nvGrpSpPr>
      <p:grpSpPr>
        <a:xfrm>
          <a:off x="0" y="0"/>
          <a:ext cx="0" cy="0"/>
          <a:chOff x="0" y="0"/>
          <a:chExt cx="0" cy="0"/>
        </a:xfrm>
      </p:grpSpPr>
      <p:sp>
        <p:nvSpPr>
          <p:cNvPr id="2" name="Text 0"/>
          <p:cNvSpPr/>
          <p:nvPr/>
        </p:nvSpPr>
        <p:spPr>
          <a:xfrm>
            <a:off x="548640" y="1417320"/>
            <a:ext cx="11064240" cy="310896"/>
          </a:xfrm>
          <a:prstGeom prst="rect">
            <a:avLst/>
          </a:prstGeom>
          <a:noFill/>
          <a:ln/>
        </p:spPr>
        <p:txBody>
          <a:bodyPr wrap="square" rtlCol="0" anchor="ctr"/>
          <a:lstStyle/>
          <a:p>
            <a:pPr indent="0" marL="0">
              <a:buNone/>
            </a:pPr>
            <a:r>
              <a:rPr lang="en-US" sz="1300" b="1" spc="300" kern="0" dirty="0">
                <a:solidFill>
                  <a:srgbClr val="F5B820"/>
                </a:solidFill>
                <a:latin typeface="Calibri" pitchFamily="34" charset="0"/>
                <a:ea typeface="Calibri" pitchFamily="34" charset="-122"/>
                <a:cs typeface="Calibri" pitchFamily="34" charset="-120"/>
              </a:rPr>
              <a:t>RETAIL SALES INTELLIGENCE</a:t>
            </a:r>
            <a:endParaRPr lang="en-US" sz="1300" dirty="0"/>
          </a:p>
        </p:txBody>
      </p:sp>
      <p:sp>
        <p:nvSpPr>
          <p:cNvPr id="3" name="Text 1"/>
          <p:cNvSpPr/>
          <p:nvPr/>
        </p:nvSpPr>
        <p:spPr>
          <a:xfrm>
            <a:off x="548640" y="1828800"/>
            <a:ext cx="11064240" cy="1737360"/>
          </a:xfrm>
          <a:prstGeom prst="rect">
            <a:avLst/>
          </a:prstGeom>
          <a:noFill/>
          <a:ln/>
        </p:spPr>
        <p:txBody>
          <a:bodyPr wrap="square"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Where the profit</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is going</a:t>
            </a:r>
            <a:endParaRPr lang="en-US" sz="4800" dirty="0"/>
          </a:p>
        </p:txBody>
      </p:sp>
      <p:sp>
        <p:nvSpPr>
          <p:cNvPr id="4" name="Text 2"/>
          <p:cNvSpPr/>
          <p:nvPr/>
        </p:nvSpPr>
        <p:spPr>
          <a:xfrm>
            <a:off x="548640" y="3749040"/>
            <a:ext cx="9966960" cy="822960"/>
          </a:xfrm>
          <a:prstGeom prst="rect">
            <a:avLst/>
          </a:prstGeom>
          <a:noFill/>
          <a:ln/>
        </p:spPr>
        <p:txBody>
          <a:bodyPr wrap="square" rtlCol="0" anchor="ctr"/>
          <a:lstStyle/>
          <a:p>
            <a:pPr indent="0" marL="0">
              <a:buNone/>
            </a:pPr>
            <a:r>
              <a:rPr lang="en-US" sz="1600" dirty="0">
                <a:solidFill>
                  <a:srgbClr val="C0CBE6"/>
                </a:solidFill>
                <a:latin typeface="Calibri" pitchFamily="34" charset="0"/>
                <a:ea typeface="Calibri" pitchFamily="34" charset="-122"/>
                <a:cs typeface="Calibri" pitchFamily="34" charset="-120"/>
              </a:rPr>
              <a:t>An analysis of 9,993 transactions · Jan 2015 – Dec 2018</a:t>
            </a:r>
            <a:endParaRPr lang="en-US" sz="1600" dirty="0"/>
          </a:p>
        </p:txBody>
      </p:sp>
      <p:sp>
        <p:nvSpPr>
          <p:cNvPr id="5" name="Text 3"/>
          <p:cNvSpPr/>
          <p:nvPr/>
        </p:nvSpPr>
        <p:spPr>
          <a:xfrm>
            <a:off x="548640" y="5029200"/>
            <a:ext cx="11064240" cy="365760"/>
          </a:xfrm>
          <a:prstGeom prst="rect">
            <a:avLst/>
          </a:prstGeom>
          <a:noFill/>
          <a:ln/>
        </p:spPr>
        <p:txBody>
          <a:bodyPr wrap="square" rtlCol="0" anchor="ctr"/>
          <a:lstStyle/>
          <a:p>
            <a:pPr indent="0" marL="0">
              <a:buNone/>
            </a:pPr>
            <a:r>
              <a:rPr lang="en-US" sz="1400" b="1" dirty="0">
                <a:solidFill>
                  <a:srgbClr val="F5B820"/>
                </a:solidFill>
                <a:latin typeface="Calibri" pitchFamily="34" charset="0"/>
                <a:ea typeface="Calibri" pitchFamily="34" charset="-122"/>
                <a:cs typeface="Calibri" pitchFamily="34" charset="-120"/>
              </a:rPr>
              <a:t>$2.30M revenue     $286,409 profit     12.47% margin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The bottom line</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One finding accounts for more profit than any growth initiative under consideration.</a:t>
            </a:r>
            <a:endParaRPr lang="en-US" sz="1400" dirty="0"/>
          </a:p>
        </p:txBody>
      </p:sp>
      <p:sp>
        <p:nvSpPr>
          <p:cNvPr id="4" name="Shape 2"/>
          <p:cNvSpPr/>
          <p:nvPr/>
        </p:nvSpPr>
        <p:spPr>
          <a:xfrm>
            <a:off x="548640" y="1600200"/>
            <a:ext cx="11064240" cy="1600200"/>
          </a:xfrm>
          <a:prstGeom prst="roundRect">
            <a:avLst>
              <a:gd name="adj" fmla="val 6857"/>
            </a:avLst>
          </a:prstGeom>
          <a:solidFill>
            <a:srgbClr val="101F4F"/>
          </a:solidFill>
          <a:ln w="12700">
            <a:solidFill>
              <a:srgbClr val="333333"/>
            </a:solidFill>
            <a:prstDash val="solid"/>
          </a:ln>
        </p:spPr>
      </p:sp>
      <p:sp>
        <p:nvSpPr>
          <p:cNvPr id="5" name="Text 3"/>
          <p:cNvSpPr/>
          <p:nvPr/>
        </p:nvSpPr>
        <p:spPr>
          <a:xfrm>
            <a:off x="1005840" y="1828800"/>
            <a:ext cx="1014984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Discounts above 30% destroy $125,007 in profit</a:t>
            </a:r>
            <a:endParaRPr lang="en-US" sz="3000" dirty="0"/>
          </a:p>
        </p:txBody>
      </p:sp>
      <p:sp>
        <p:nvSpPr>
          <p:cNvPr id="6" name="Text 4"/>
          <p:cNvSpPr/>
          <p:nvPr/>
        </p:nvSpPr>
        <p:spPr>
          <a:xfrm>
            <a:off x="1005840" y="2487168"/>
            <a:ext cx="10149840" cy="457200"/>
          </a:xfrm>
          <a:prstGeom prst="rect">
            <a:avLst/>
          </a:prstGeom>
          <a:noFill/>
          <a:ln/>
        </p:spPr>
        <p:txBody>
          <a:bodyPr wrap="square" lIns="0" tIns="0" rIns="0" bIns="0" rtlCol="0" anchor="ctr"/>
          <a:lstStyle/>
          <a:p>
            <a:pPr indent="0" marL="0">
              <a:buNone/>
            </a:pPr>
            <a:r>
              <a:rPr lang="en-US" sz="1500" dirty="0">
                <a:solidFill>
                  <a:srgbClr val="C0CBE6"/>
                </a:solidFill>
                <a:latin typeface="Calibri" pitchFamily="34" charset="0"/>
                <a:ea typeface="Calibri" pitchFamily="34" charset="-122"/>
                <a:cs typeface="Calibri" pitchFamily="34" charset="-120"/>
              </a:rPr>
              <a:t>That is 44% of everything the business earns — from just 11.7% of order lines.</a:t>
            </a:r>
            <a:endParaRPr lang="en-US" sz="1500" dirty="0"/>
          </a:p>
        </p:txBody>
      </p:sp>
      <p:sp>
        <p:nvSpPr>
          <p:cNvPr id="7" name="Shape 5"/>
          <p:cNvSpPr/>
          <p:nvPr/>
        </p:nvSpPr>
        <p:spPr>
          <a:xfrm>
            <a:off x="548640" y="3520440"/>
            <a:ext cx="2574036" cy="1463040"/>
          </a:xfrm>
          <a:prstGeom prst="roundRect">
            <a:avLst>
              <a:gd name="adj" fmla="val 5625"/>
            </a:avLst>
          </a:prstGeom>
          <a:solidFill>
            <a:srgbClr val="EEF1F6"/>
          </a:solidFill>
          <a:ln w="12700">
            <a:solidFill>
              <a:srgbClr val="E1E6F0"/>
            </a:solidFill>
            <a:prstDash val="solid"/>
          </a:ln>
        </p:spPr>
      </p:sp>
      <p:sp>
        <p:nvSpPr>
          <p:cNvPr id="8" name="Shape 6"/>
          <p:cNvSpPr/>
          <p:nvPr/>
        </p:nvSpPr>
        <p:spPr>
          <a:xfrm>
            <a:off x="822960" y="3831336"/>
            <a:ext cx="91440" cy="310896"/>
          </a:xfrm>
          <a:prstGeom prst="roundRect">
            <a:avLst>
              <a:gd name="adj" fmla="val 50000"/>
            </a:avLst>
          </a:prstGeom>
          <a:solidFill>
            <a:srgbClr val="2F6FED"/>
          </a:solidFill>
          <a:ln w="12700">
            <a:solidFill>
              <a:srgbClr val="333333"/>
            </a:solidFill>
            <a:prstDash val="solid"/>
          </a:ln>
        </p:spPr>
      </p:sp>
      <p:sp>
        <p:nvSpPr>
          <p:cNvPr id="9" name="Text 7"/>
          <p:cNvSpPr/>
          <p:nvPr/>
        </p:nvSpPr>
        <p:spPr>
          <a:xfrm>
            <a:off x="1024128" y="3739896"/>
            <a:ext cx="1933956"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$2.30M</a:t>
            </a:r>
            <a:endParaRPr lang="en-US" sz="3000" dirty="0"/>
          </a:p>
        </p:txBody>
      </p:sp>
      <p:sp>
        <p:nvSpPr>
          <p:cNvPr id="10" name="Text 8"/>
          <p:cNvSpPr/>
          <p:nvPr/>
        </p:nvSpPr>
        <p:spPr>
          <a:xfrm>
            <a:off x="1024128" y="4270248"/>
            <a:ext cx="1933956"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REVENUE</a:t>
            </a:r>
            <a:endParaRPr lang="en-US" sz="1200" dirty="0"/>
          </a:p>
        </p:txBody>
      </p:sp>
      <p:sp>
        <p:nvSpPr>
          <p:cNvPr id="11" name="Text 9"/>
          <p:cNvSpPr/>
          <p:nvPr/>
        </p:nvSpPr>
        <p:spPr>
          <a:xfrm>
            <a:off x="1024128" y="4526280"/>
            <a:ext cx="1933956"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+20.4% vs 2017</a:t>
            </a:r>
            <a:endParaRPr lang="en-US" sz="1100" dirty="0"/>
          </a:p>
        </p:txBody>
      </p:sp>
      <p:sp>
        <p:nvSpPr>
          <p:cNvPr id="12" name="Shape 10"/>
          <p:cNvSpPr/>
          <p:nvPr/>
        </p:nvSpPr>
        <p:spPr>
          <a:xfrm>
            <a:off x="3378708" y="3520440"/>
            <a:ext cx="2574036" cy="1463040"/>
          </a:xfrm>
          <a:prstGeom prst="roundRect">
            <a:avLst>
              <a:gd name="adj" fmla="val 5625"/>
            </a:avLst>
          </a:prstGeom>
          <a:solidFill>
            <a:srgbClr val="EEF1F6"/>
          </a:solidFill>
          <a:ln w="12700">
            <a:solidFill>
              <a:srgbClr val="E1E6F0"/>
            </a:solidFill>
            <a:prstDash val="solid"/>
          </a:ln>
        </p:spPr>
      </p:sp>
      <p:sp>
        <p:nvSpPr>
          <p:cNvPr id="13" name="Shape 11"/>
          <p:cNvSpPr/>
          <p:nvPr/>
        </p:nvSpPr>
        <p:spPr>
          <a:xfrm>
            <a:off x="3653028" y="3831336"/>
            <a:ext cx="91440" cy="310896"/>
          </a:xfrm>
          <a:prstGeom prst="roundRect">
            <a:avLst>
              <a:gd name="adj" fmla="val 50000"/>
            </a:avLst>
          </a:prstGeom>
          <a:solidFill>
            <a:srgbClr val="16A888"/>
          </a:solidFill>
          <a:ln w="12700">
            <a:solidFill>
              <a:srgbClr val="333333"/>
            </a:solidFill>
            <a:prstDash val="solid"/>
          </a:ln>
        </p:spPr>
      </p:sp>
      <p:sp>
        <p:nvSpPr>
          <p:cNvPr id="14" name="Text 12"/>
          <p:cNvSpPr/>
          <p:nvPr/>
        </p:nvSpPr>
        <p:spPr>
          <a:xfrm>
            <a:off x="3854196" y="3739896"/>
            <a:ext cx="1933956"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$286,409</a:t>
            </a:r>
            <a:endParaRPr lang="en-US" sz="3000" dirty="0"/>
          </a:p>
        </p:txBody>
      </p:sp>
      <p:sp>
        <p:nvSpPr>
          <p:cNvPr id="15" name="Text 13"/>
          <p:cNvSpPr/>
          <p:nvPr/>
        </p:nvSpPr>
        <p:spPr>
          <a:xfrm>
            <a:off x="3854196" y="4270248"/>
            <a:ext cx="1933956"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PROFIT</a:t>
            </a:r>
            <a:endParaRPr lang="en-US" sz="1200" dirty="0"/>
          </a:p>
        </p:txBody>
      </p:sp>
      <p:sp>
        <p:nvSpPr>
          <p:cNvPr id="16" name="Text 14"/>
          <p:cNvSpPr/>
          <p:nvPr/>
        </p:nvSpPr>
        <p:spPr>
          <a:xfrm>
            <a:off x="3854196" y="4526280"/>
            <a:ext cx="1933956"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12.47% margin</a:t>
            </a:r>
            <a:endParaRPr lang="en-US" sz="1100" dirty="0"/>
          </a:p>
        </p:txBody>
      </p:sp>
      <p:sp>
        <p:nvSpPr>
          <p:cNvPr id="17" name="Shape 15"/>
          <p:cNvSpPr/>
          <p:nvPr/>
        </p:nvSpPr>
        <p:spPr>
          <a:xfrm>
            <a:off x="6208776" y="3520440"/>
            <a:ext cx="2574036" cy="1463040"/>
          </a:xfrm>
          <a:prstGeom prst="roundRect">
            <a:avLst>
              <a:gd name="adj" fmla="val 5625"/>
            </a:avLst>
          </a:prstGeom>
          <a:solidFill>
            <a:srgbClr val="EEF1F6"/>
          </a:solidFill>
          <a:ln w="12700">
            <a:solidFill>
              <a:srgbClr val="E1E6F0"/>
            </a:solidFill>
            <a:prstDash val="solid"/>
          </a:ln>
        </p:spPr>
      </p:sp>
      <p:sp>
        <p:nvSpPr>
          <p:cNvPr id="18" name="Shape 16"/>
          <p:cNvSpPr/>
          <p:nvPr/>
        </p:nvSpPr>
        <p:spPr>
          <a:xfrm>
            <a:off x="6483096" y="3831336"/>
            <a:ext cx="91440" cy="310896"/>
          </a:xfrm>
          <a:prstGeom prst="roundRect">
            <a:avLst>
              <a:gd name="adj" fmla="val 50000"/>
            </a:avLst>
          </a:prstGeom>
          <a:solidFill>
            <a:srgbClr val="F5B820"/>
          </a:solidFill>
          <a:ln w="12700">
            <a:solidFill>
              <a:srgbClr val="333333"/>
            </a:solidFill>
            <a:prstDash val="solid"/>
          </a:ln>
        </p:spPr>
      </p:sp>
      <p:sp>
        <p:nvSpPr>
          <p:cNvPr id="19" name="Text 17"/>
          <p:cNvSpPr/>
          <p:nvPr/>
        </p:nvSpPr>
        <p:spPr>
          <a:xfrm>
            <a:off x="6684264" y="3739896"/>
            <a:ext cx="1933956"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5,009</a:t>
            </a:r>
            <a:endParaRPr lang="en-US" sz="3000" dirty="0"/>
          </a:p>
        </p:txBody>
      </p:sp>
      <p:sp>
        <p:nvSpPr>
          <p:cNvPr id="20" name="Text 18"/>
          <p:cNvSpPr/>
          <p:nvPr/>
        </p:nvSpPr>
        <p:spPr>
          <a:xfrm>
            <a:off x="6684264" y="4270248"/>
            <a:ext cx="1933956"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ORDERS</a:t>
            </a:r>
            <a:endParaRPr lang="en-US" sz="1200" dirty="0"/>
          </a:p>
        </p:txBody>
      </p:sp>
      <p:sp>
        <p:nvSpPr>
          <p:cNvPr id="21" name="Text 19"/>
          <p:cNvSpPr/>
          <p:nvPr/>
        </p:nvSpPr>
        <p:spPr>
          <a:xfrm>
            <a:off x="6684264" y="4526280"/>
            <a:ext cx="1933956"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793 customers</a:t>
            </a:r>
            <a:endParaRPr lang="en-US" sz="1100" dirty="0"/>
          </a:p>
        </p:txBody>
      </p:sp>
      <p:sp>
        <p:nvSpPr>
          <p:cNvPr id="22" name="Shape 20"/>
          <p:cNvSpPr/>
          <p:nvPr/>
        </p:nvSpPr>
        <p:spPr>
          <a:xfrm>
            <a:off x="9038844" y="3520440"/>
            <a:ext cx="2574036" cy="1463040"/>
          </a:xfrm>
          <a:prstGeom prst="roundRect">
            <a:avLst>
              <a:gd name="adj" fmla="val 5625"/>
            </a:avLst>
          </a:prstGeom>
          <a:solidFill>
            <a:srgbClr val="EEF1F6"/>
          </a:solidFill>
          <a:ln w="12700">
            <a:solidFill>
              <a:srgbClr val="E1E6F0"/>
            </a:solidFill>
            <a:prstDash val="solid"/>
          </a:ln>
        </p:spPr>
      </p:sp>
      <p:sp>
        <p:nvSpPr>
          <p:cNvPr id="23" name="Shape 21"/>
          <p:cNvSpPr/>
          <p:nvPr/>
        </p:nvSpPr>
        <p:spPr>
          <a:xfrm>
            <a:off x="9313164" y="3831336"/>
            <a:ext cx="91440" cy="310896"/>
          </a:xfrm>
          <a:prstGeom prst="roundRect">
            <a:avLst>
              <a:gd name="adj" fmla="val 50000"/>
            </a:avLst>
          </a:prstGeom>
          <a:solidFill>
            <a:srgbClr val="E03131"/>
          </a:solidFill>
          <a:ln w="12700">
            <a:solidFill>
              <a:srgbClr val="333333"/>
            </a:solidFill>
            <a:prstDash val="solid"/>
          </a:ln>
        </p:spPr>
      </p:sp>
      <p:sp>
        <p:nvSpPr>
          <p:cNvPr id="24" name="Text 22"/>
          <p:cNvSpPr/>
          <p:nvPr/>
        </p:nvSpPr>
        <p:spPr>
          <a:xfrm>
            <a:off x="9514332" y="3739896"/>
            <a:ext cx="1933956"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$125,007</a:t>
            </a:r>
            <a:endParaRPr lang="en-US" sz="3000" dirty="0"/>
          </a:p>
        </p:txBody>
      </p:sp>
      <p:sp>
        <p:nvSpPr>
          <p:cNvPr id="25" name="Text 23"/>
          <p:cNvSpPr/>
          <p:nvPr/>
        </p:nvSpPr>
        <p:spPr>
          <a:xfrm>
            <a:off x="9514332" y="4270248"/>
            <a:ext cx="1933956"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PROFIT LOST</a:t>
            </a:r>
            <a:endParaRPr lang="en-US" sz="1200" dirty="0"/>
          </a:p>
        </p:txBody>
      </p:sp>
      <p:sp>
        <p:nvSpPr>
          <p:cNvPr id="26" name="Text 24"/>
          <p:cNvSpPr/>
          <p:nvPr/>
        </p:nvSpPr>
        <p:spPr>
          <a:xfrm>
            <a:off x="9514332" y="4526280"/>
            <a:ext cx="1933956"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to deep discounts</a:t>
            </a:r>
            <a:endParaRPr lang="en-US" sz="1100" dirty="0"/>
          </a:p>
        </p:txBody>
      </p:sp>
      <p:sp>
        <p:nvSpPr>
          <p:cNvPr id="27" name="Text 25"/>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Source: 9,993 cleaned transactions, Jan 2015 – Dec 2018. Figures reconciled across Python, SQL and Excel.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Margin does not decline. It falls off a cliff.</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Profit margin by discount band — the threshold sits at 30%.</a:t>
            </a:r>
            <a:endParaRPr lang="en-US" sz="1400" dirty="0"/>
          </a:p>
        </p:txBody>
      </p:sp>
      <p:graphicFrame>
        <p:nvGraphicFramePr>
          <p:cNvPr id="4" name="Chart 0" descr=""/>
          <p:cNvGraphicFramePr/>
          <p:nvPr/>
        </p:nvGraphicFramePr>
        <p:xfrm>
          <a:off x="548640" y="150876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680960" y="1828800"/>
            <a:ext cx="38404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Everything up to 30% is a</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normal commercial trade-off.</a:t>
            </a:r>
            <a:endParaRPr lang="en-US" sz="1400" dirty="0"/>
          </a:p>
        </p:txBody>
      </p:sp>
      <p:sp>
        <p:nvSpPr>
          <p:cNvPr id="6" name="Shape 3"/>
          <p:cNvSpPr/>
          <p:nvPr/>
        </p:nvSpPr>
        <p:spPr>
          <a:xfrm>
            <a:off x="7680960" y="2743200"/>
            <a:ext cx="3840480" cy="1371600"/>
          </a:xfrm>
          <a:prstGeom prst="roundRect">
            <a:avLst>
              <a:gd name="adj" fmla="val 6000"/>
            </a:avLst>
          </a:prstGeom>
          <a:solidFill>
            <a:srgbClr val="EEF1F6"/>
          </a:solidFill>
          <a:ln w="12700">
            <a:solidFill>
              <a:srgbClr val="E1E6F0"/>
            </a:solidFill>
            <a:prstDash val="solid"/>
          </a:ln>
        </p:spPr>
      </p:sp>
      <p:sp>
        <p:nvSpPr>
          <p:cNvPr id="7" name="Shape 4"/>
          <p:cNvSpPr/>
          <p:nvPr/>
        </p:nvSpPr>
        <p:spPr>
          <a:xfrm>
            <a:off x="7955280" y="3054096"/>
            <a:ext cx="91440" cy="310896"/>
          </a:xfrm>
          <a:prstGeom prst="roundRect">
            <a:avLst>
              <a:gd name="adj" fmla="val 50000"/>
            </a:avLst>
          </a:prstGeom>
          <a:solidFill>
            <a:srgbClr val="E03131"/>
          </a:solidFill>
          <a:ln w="12700">
            <a:solidFill>
              <a:srgbClr val="333333"/>
            </a:solidFill>
            <a:prstDash val="solid"/>
          </a:ln>
        </p:spPr>
      </p:sp>
      <p:sp>
        <p:nvSpPr>
          <p:cNvPr id="8" name="Text 5"/>
          <p:cNvSpPr/>
          <p:nvPr/>
        </p:nvSpPr>
        <p:spPr>
          <a:xfrm>
            <a:off x="8156448" y="2962656"/>
            <a:ext cx="320040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−119%</a:t>
            </a:r>
            <a:endParaRPr lang="en-US" sz="3000" dirty="0"/>
          </a:p>
        </p:txBody>
      </p:sp>
      <p:sp>
        <p:nvSpPr>
          <p:cNvPr id="9" name="Text 6"/>
          <p:cNvSpPr/>
          <p:nvPr/>
        </p:nvSpPr>
        <p:spPr>
          <a:xfrm>
            <a:off x="8156448" y="3493008"/>
            <a:ext cx="320040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MARGIN ABOVE 50% OFF</a:t>
            </a:r>
            <a:endParaRPr lang="en-US" sz="1200" dirty="0"/>
          </a:p>
        </p:txBody>
      </p:sp>
      <p:sp>
        <p:nvSpPr>
          <p:cNvPr id="10" name="Text 7"/>
          <p:cNvSpPr/>
          <p:nvPr/>
        </p:nvSpPr>
        <p:spPr>
          <a:xfrm>
            <a:off x="8156448" y="3749040"/>
            <a:ext cx="3200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Each sale costs more than it earns</a:t>
            </a:r>
            <a:endParaRPr lang="en-US" sz="1100" dirty="0"/>
          </a:p>
        </p:txBody>
      </p:sp>
      <p:sp>
        <p:nvSpPr>
          <p:cNvPr id="11" name="Text 8"/>
          <p:cNvSpPr/>
          <p:nvPr/>
        </p:nvSpPr>
        <p:spPr>
          <a:xfrm>
            <a:off x="7680960" y="4343400"/>
            <a:ext cx="38404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Only 11.7% of order lines sit past the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threshold — a narrow, fixable problem.</a:t>
            </a:r>
            <a:endParaRPr lang="en-US" sz="1400" dirty="0"/>
          </a:p>
        </p:txBody>
      </p:sp>
      <p:sp>
        <p:nvSpPr>
          <p:cNvPr id="12" name="Text 9"/>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Query 14, analysis_queries.sql. Bands cut at 0 / 15 / 30 / 50 per cent.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Furniture is a third of revenue and none of the profit</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Share of sales against realised margin, by category.</a:t>
            </a:r>
            <a:endParaRPr lang="en-US" sz="1400" dirty="0"/>
          </a:p>
        </p:txBody>
      </p:sp>
      <p:graphicFrame>
        <p:nvGraphicFramePr>
          <p:cNvPr id="4" name="Chart 0" descr=""/>
          <p:cNvGraphicFramePr/>
          <p:nvPr/>
        </p:nvGraphicFramePr>
        <p:xfrm>
          <a:off x="548640" y="15544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89520" y="1600200"/>
            <a:ext cx="4023360" cy="365760"/>
          </a:xfrm>
          <a:prstGeom prst="rect">
            <a:avLst/>
          </a:prstGeom>
          <a:noFill/>
          <a:ln/>
        </p:spPr>
        <p:txBody>
          <a:bodyPr wrap="square" lIns="0" tIns="0" rIns="0" bIns="0" rtlCol="0" anchor="ctr"/>
          <a:lstStyle/>
          <a:p>
            <a:pPr indent="0" marL="0">
              <a:buNone/>
            </a:pPr>
            <a:r>
              <a:rPr lang="en-US" sz="1400" b="1" dirty="0">
                <a:solidFill>
                  <a:srgbClr val="101F4F"/>
                </a:solidFill>
                <a:latin typeface="Calibri" pitchFamily="34" charset="0"/>
                <a:ea typeface="Calibri" pitchFamily="34" charset="-122"/>
                <a:cs typeface="Calibri" pitchFamily="34" charset="-120"/>
              </a:rPr>
              <a:t>Two sub-categories lose money outright</a:t>
            </a:r>
            <a:endParaRPr lang="en-US" sz="1400" dirty="0"/>
          </a:p>
        </p:txBody>
      </p:sp>
      <p:sp>
        <p:nvSpPr>
          <p:cNvPr id="6" name="Shape 3"/>
          <p:cNvSpPr/>
          <p:nvPr/>
        </p:nvSpPr>
        <p:spPr>
          <a:xfrm>
            <a:off x="7589520" y="2057400"/>
            <a:ext cx="4023360" cy="1325880"/>
          </a:xfrm>
          <a:prstGeom prst="roundRect">
            <a:avLst>
              <a:gd name="adj" fmla="val 6207"/>
            </a:avLst>
          </a:prstGeom>
          <a:solidFill>
            <a:srgbClr val="EEF1F6"/>
          </a:solidFill>
          <a:ln w="12700">
            <a:solidFill>
              <a:srgbClr val="E1E6F0"/>
            </a:solidFill>
            <a:prstDash val="solid"/>
          </a:ln>
        </p:spPr>
      </p:sp>
      <p:sp>
        <p:nvSpPr>
          <p:cNvPr id="7" name="Shape 4"/>
          <p:cNvSpPr/>
          <p:nvPr/>
        </p:nvSpPr>
        <p:spPr>
          <a:xfrm>
            <a:off x="7863840" y="2368296"/>
            <a:ext cx="91440" cy="310896"/>
          </a:xfrm>
          <a:prstGeom prst="roundRect">
            <a:avLst>
              <a:gd name="adj" fmla="val 50000"/>
            </a:avLst>
          </a:prstGeom>
          <a:solidFill>
            <a:srgbClr val="E03131"/>
          </a:solidFill>
          <a:ln w="12700">
            <a:solidFill>
              <a:srgbClr val="333333"/>
            </a:solidFill>
            <a:prstDash val="solid"/>
          </a:ln>
        </p:spPr>
      </p:sp>
      <p:sp>
        <p:nvSpPr>
          <p:cNvPr id="8" name="Text 5"/>
          <p:cNvSpPr/>
          <p:nvPr/>
        </p:nvSpPr>
        <p:spPr>
          <a:xfrm>
            <a:off x="8065008" y="2276856"/>
            <a:ext cx="338328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−$17,725</a:t>
            </a:r>
            <a:endParaRPr lang="en-US" sz="3000" dirty="0"/>
          </a:p>
        </p:txBody>
      </p:sp>
      <p:sp>
        <p:nvSpPr>
          <p:cNvPr id="9" name="Text 6"/>
          <p:cNvSpPr/>
          <p:nvPr/>
        </p:nvSpPr>
        <p:spPr>
          <a:xfrm>
            <a:off x="8065008" y="2807208"/>
            <a:ext cx="338328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TABLES</a:t>
            </a:r>
            <a:endParaRPr lang="en-US" sz="1200" dirty="0"/>
          </a:p>
        </p:txBody>
      </p:sp>
      <p:sp>
        <p:nvSpPr>
          <p:cNvPr id="10" name="Text 7"/>
          <p:cNvSpPr/>
          <p:nvPr/>
        </p:nvSpPr>
        <p:spPr>
          <a:xfrm>
            <a:off x="8065008" y="3063240"/>
            <a:ext cx="3383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26% average discount — deepest in catalogue</a:t>
            </a:r>
            <a:endParaRPr lang="en-US" sz="1100" dirty="0"/>
          </a:p>
        </p:txBody>
      </p:sp>
      <p:sp>
        <p:nvSpPr>
          <p:cNvPr id="11" name="Shape 8"/>
          <p:cNvSpPr/>
          <p:nvPr/>
        </p:nvSpPr>
        <p:spPr>
          <a:xfrm>
            <a:off x="7589520" y="3520440"/>
            <a:ext cx="4023360" cy="1325880"/>
          </a:xfrm>
          <a:prstGeom prst="roundRect">
            <a:avLst>
              <a:gd name="adj" fmla="val 6207"/>
            </a:avLst>
          </a:prstGeom>
          <a:solidFill>
            <a:srgbClr val="EEF1F6"/>
          </a:solidFill>
          <a:ln w="12700">
            <a:solidFill>
              <a:srgbClr val="E1E6F0"/>
            </a:solidFill>
            <a:prstDash val="solid"/>
          </a:ln>
        </p:spPr>
      </p:sp>
      <p:sp>
        <p:nvSpPr>
          <p:cNvPr id="12" name="Shape 9"/>
          <p:cNvSpPr/>
          <p:nvPr/>
        </p:nvSpPr>
        <p:spPr>
          <a:xfrm>
            <a:off x="7863840" y="3831336"/>
            <a:ext cx="91440" cy="310896"/>
          </a:xfrm>
          <a:prstGeom prst="roundRect">
            <a:avLst>
              <a:gd name="adj" fmla="val 50000"/>
            </a:avLst>
          </a:prstGeom>
          <a:solidFill>
            <a:srgbClr val="E03131"/>
          </a:solidFill>
          <a:ln w="12700">
            <a:solidFill>
              <a:srgbClr val="333333"/>
            </a:solidFill>
            <a:prstDash val="solid"/>
          </a:ln>
        </p:spPr>
      </p:sp>
      <p:sp>
        <p:nvSpPr>
          <p:cNvPr id="13" name="Text 10"/>
          <p:cNvSpPr/>
          <p:nvPr/>
        </p:nvSpPr>
        <p:spPr>
          <a:xfrm>
            <a:off x="8065008" y="3739896"/>
            <a:ext cx="338328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−$3,473</a:t>
            </a:r>
            <a:endParaRPr lang="en-US" sz="3000" dirty="0"/>
          </a:p>
        </p:txBody>
      </p:sp>
      <p:sp>
        <p:nvSpPr>
          <p:cNvPr id="14" name="Text 11"/>
          <p:cNvSpPr/>
          <p:nvPr/>
        </p:nvSpPr>
        <p:spPr>
          <a:xfrm>
            <a:off x="8065008" y="4270248"/>
            <a:ext cx="338328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BOOKCASES</a:t>
            </a:r>
            <a:endParaRPr lang="en-US" sz="1200" dirty="0"/>
          </a:p>
        </p:txBody>
      </p:sp>
      <p:sp>
        <p:nvSpPr>
          <p:cNvPr id="15" name="Text 12"/>
          <p:cNvSpPr/>
          <p:nvPr/>
        </p:nvSpPr>
        <p:spPr>
          <a:xfrm>
            <a:off x="8065008" y="4526280"/>
            <a:ext cx="3383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 average discount</a:t>
            </a:r>
            <a:endParaRPr lang="en-US" sz="1100" dirty="0"/>
          </a:p>
        </p:txBody>
      </p:sp>
      <p:sp>
        <p:nvSpPr>
          <p:cNvPr id="16" name="Text 13"/>
          <p:cNvSpPr/>
          <p:nvPr/>
        </p:nvSpPr>
        <p:spPr>
          <a:xfrm>
            <a:off x="7589520" y="4983480"/>
            <a:ext cx="402336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Same root cause as slide 3.</a:t>
            </a:r>
            <a:endParaRPr lang="en-US" sz="1300" dirty="0"/>
          </a:p>
        </p:txBody>
      </p:sp>
      <p:sp>
        <p:nvSpPr>
          <p:cNvPr id="17" name="Text 14"/>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Queries 6 and 7, analysis_queries.sql.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The geography of the problem is the same problem</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Every loss-making region and state discounts far harder than the profitable ones.</a:t>
            </a:r>
            <a:endParaRPr lang="en-US" sz="1400" dirty="0"/>
          </a:p>
        </p:txBody>
      </p:sp>
      <p:graphicFrame>
        <p:nvGraphicFramePr>
          <p:cNvPr id="4" name="Chart 0" descr=""/>
          <p:cNvGraphicFramePr/>
          <p:nvPr/>
        </p:nvGraphicFramePr>
        <p:xfrm>
          <a:off x="548640" y="15544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28216"/>
            <a:ext cx="384048" cy="384048"/>
          </a:xfrm>
          <a:prstGeom prst="ellipse">
            <a:avLst/>
          </a:prstGeom>
          <a:solidFill>
            <a:srgbClr val="F5B820"/>
          </a:solidFill>
          <a:ln w="12700">
            <a:solidFill>
              <a:srgbClr val="333333"/>
            </a:solidFill>
            <a:prstDash val="solid"/>
          </a:ln>
        </p:spPr>
      </p:sp>
      <p:sp>
        <p:nvSpPr>
          <p:cNvPr id="6" name="Text 3"/>
          <p:cNvSpPr/>
          <p:nvPr/>
        </p:nvSpPr>
        <p:spPr>
          <a:xfrm>
            <a:off x="7589520" y="17282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8156448" y="1691640"/>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Central discounts twice as hard as West</a:t>
            </a:r>
            <a:endParaRPr lang="en-US" sz="1500" dirty="0"/>
          </a:p>
        </p:txBody>
      </p:sp>
      <p:sp>
        <p:nvSpPr>
          <p:cNvPr id="8" name="Text 5"/>
          <p:cNvSpPr/>
          <p:nvPr/>
        </p:nvSpPr>
        <p:spPr>
          <a:xfrm>
            <a:off x="8156448" y="1984248"/>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24.0% vs 10.9% — and earns half the margin.</a:t>
            </a:r>
            <a:endParaRPr lang="en-US" sz="1250" dirty="0"/>
          </a:p>
        </p:txBody>
      </p:sp>
      <p:sp>
        <p:nvSpPr>
          <p:cNvPr id="9" name="Shape 6"/>
          <p:cNvSpPr/>
          <p:nvPr/>
        </p:nvSpPr>
        <p:spPr>
          <a:xfrm>
            <a:off x="7589520" y="2898648"/>
            <a:ext cx="384048" cy="384048"/>
          </a:xfrm>
          <a:prstGeom prst="ellipse">
            <a:avLst/>
          </a:prstGeom>
          <a:solidFill>
            <a:srgbClr val="E03131"/>
          </a:solidFill>
          <a:ln w="12700">
            <a:solidFill>
              <a:srgbClr val="333333"/>
            </a:solidFill>
            <a:prstDash val="solid"/>
          </a:ln>
        </p:spPr>
      </p:sp>
      <p:sp>
        <p:nvSpPr>
          <p:cNvPr id="10" name="Text 7"/>
          <p:cNvSpPr/>
          <p:nvPr/>
        </p:nvSpPr>
        <p:spPr>
          <a:xfrm>
            <a:off x="7589520" y="2898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8156448" y="2862072"/>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10 states operate at a loss</a:t>
            </a:r>
            <a:endParaRPr lang="en-US" sz="1500" dirty="0"/>
          </a:p>
        </p:txBody>
      </p:sp>
      <p:sp>
        <p:nvSpPr>
          <p:cNvPr id="12" name="Text 9"/>
          <p:cNvSpPr/>
          <p:nvPr/>
        </p:nvSpPr>
        <p:spPr>
          <a:xfrm>
            <a:off x="8156448" y="3154680"/>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All discount between 28% and 40%.</a:t>
            </a:r>
            <a:endParaRPr lang="en-US" sz="1250" dirty="0"/>
          </a:p>
        </p:txBody>
      </p:sp>
      <p:sp>
        <p:nvSpPr>
          <p:cNvPr id="13" name="Shape 10"/>
          <p:cNvSpPr/>
          <p:nvPr/>
        </p:nvSpPr>
        <p:spPr>
          <a:xfrm>
            <a:off x="7589520" y="4069080"/>
            <a:ext cx="384048" cy="384048"/>
          </a:xfrm>
          <a:prstGeom prst="ellipse">
            <a:avLst/>
          </a:prstGeom>
          <a:solidFill>
            <a:srgbClr val="7B45C9"/>
          </a:solidFill>
          <a:ln w="12700">
            <a:solidFill>
              <a:srgbClr val="333333"/>
            </a:solidFill>
            <a:prstDash val="solid"/>
          </a:ln>
        </p:spPr>
      </p:sp>
      <p:sp>
        <p:nvSpPr>
          <p:cNvPr id="14" name="Text 11"/>
          <p:cNvSpPr/>
          <p:nvPr/>
        </p:nvSpPr>
        <p:spPr>
          <a:xfrm>
            <a:off x="7589520" y="4069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8156448" y="4032504"/>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Philadelphia is 5th by revenue and loses $13,838</a:t>
            </a:r>
            <a:endParaRPr lang="en-US" sz="1500" dirty="0"/>
          </a:p>
        </p:txBody>
      </p:sp>
      <p:sp>
        <p:nvSpPr>
          <p:cNvPr id="16" name="Text 13"/>
          <p:cNvSpPr/>
          <p:nvPr/>
        </p:nvSpPr>
        <p:spPr>
          <a:xfrm>
            <a:off x="8156448" y="4325112"/>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Revenue rank and profit contribution are not the same thing.</a:t>
            </a:r>
            <a:endParaRPr lang="en-US" sz="1250" dirty="0"/>
          </a:p>
        </p:txBody>
      </p:sp>
      <p:sp>
        <p:nvSpPr>
          <p:cNvPr id="17" name="Text 14"/>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Queries 11, 24 and 25, analysis_queries.sql.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The business is growing — that is not the issue</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Annual revenue, with margin improving every year.</a:t>
            </a:r>
            <a:endParaRPr lang="en-US" sz="1400" dirty="0"/>
          </a:p>
        </p:txBody>
      </p:sp>
      <p:graphicFrame>
        <p:nvGraphicFramePr>
          <p:cNvPr id="4" name="Chart 0" descr=""/>
          <p:cNvGraphicFramePr/>
          <p:nvPr/>
        </p:nvGraphicFramePr>
        <p:xfrm>
          <a:off x="548640" y="15544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91640"/>
            <a:ext cx="4023360" cy="1325880"/>
          </a:xfrm>
          <a:prstGeom prst="roundRect">
            <a:avLst>
              <a:gd name="adj" fmla="val 6207"/>
            </a:avLst>
          </a:prstGeom>
          <a:solidFill>
            <a:srgbClr val="EEF1F6"/>
          </a:solidFill>
          <a:ln w="12700">
            <a:solidFill>
              <a:srgbClr val="E1E6F0"/>
            </a:solidFill>
            <a:prstDash val="solid"/>
          </a:ln>
        </p:spPr>
      </p:sp>
      <p:sp>
        <p:nvSpPr>
          <p:cNvPr id="6" name="Shape 3"/>
          <p:cNvSpPr/>
          <p:nvPr/>
        </p:nvSpPr>
        <p:spPr>
          <a:xfrm>
            <a:off x="7863840" y="2002536"/>
            <a:ext cx="91440" cy="310896"/>
          </a:xfrm>
          <a:prstGeom prst="roundRect">
            <a:avLst>
              <a:gd name="adj" fmla="val 50000"/>
            </a:avLst>
          </a:prstGeom>
          <a:solidFill>
            <a:srgbClr val="16A888"/>
          </a:solidFill>
          <a:ln w="12700">
            <a:solidFill>
              <a:srgbClr val="333333"/>
            </a:solidFill>
            <a:prstDash val="solid"/>
          </a:ln>
        </p:spPr>
      </p:sp>
      <p:sp>
        <p:nvSpPr>
          <p:cNvPr id="7" name="Text 4"/>
          <p:cNvSpPr/>
          <p:nvPr/>
        </p:nvSpPr>
        <p:spPr>
          <a:xfrm>
            <a:off x="8065008" y="1911096"/>
            <a:ext cx="338328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+20.4%</a:t>
            </a:r>
            <a:endParaRPr lang="en-US" sz="3000" dirty="0"/>
          </a:p>
        </p:txBody>
      </p:sp>
      <p:sp>
        <p:nvSpPr>
          <p:cNvPr id="8" name="Text 5"/>
          <p:cNvSpPr/>
          <p:nvPr/>
        </p:nvSpPr>
        <p:spPr>
          <a:xfrm>
            <a:off x="8065008" y="2441448"/>
            <a:ext cx="338328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2018 GROWTH</a:t>
            </a:r>
            <a:endParaRPr lang="en-US" sz="1200" dirty="0"/>
          </a:p>
        </p:txBody>
      </p:sp>
      <p:sp>
        <p:nvSpPr>
          <p:cNvPr id="9" name="Text 6"/>
          <p:cNvSpPr/>
          <p:nvPr/>
        </p:nvSpPr>
        <p:spPr>
          <a:xfrm>
            <a:off x="8065008" y="2697480"/>
            <a:ext cx="3383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after +29.5% in 2017</a:t>
            </a:r>
            <a:endParaRPr lang="en-US" sz="1100" dirty="0"/>
          </a:p>
        </p:txBody>
      </p:sp>
      <p:sp>
        <p:nvSpPr>
          <p:cNvPr id="10" name="Shape 7"/>
          <p:cNvSpPr/>
          <p:nvPr/>
        </p:nvSpPr>
        <p:spPr>
          <a:xfrm>
            <a:off x="7589520" y="3154680"/>
            <a:ext cx="4023360" cy="1325880"/>
          </a:xfrm>
          <a:prstGeom prst="roundRect">
            <a:avLst>
              <a:gd name="adj" fmla="val 6207"/>
            </a:avLst>
          </a:prstGeom>
          <a:solidFill>
            <a:srgbClr val="EEF1F6"/>
          </a:solidFill>
          <a:ln w="12700">
            <a:solidFill>
              <a:srgbClr val="E1E6F0"/>
            </a:solidFill>
            <a:prstDash val="solid"/>
          </a:ln>
        </p:spPr>
      </p:sp>
      <p:sp>
        <p:nvSpPr>
          <p:cNvPr id="11" name="Shape 8"/>
          <p:cNvSpPr/>
          <p:nvPr/>
        </p:nvSpPr>
        <p:spPr>
          <a:xfrm>
            <a:off x="7863840" y="3465576"/>
            <a:ext cx="91440" cy="310896"/>
          </a:xfrm>
          <a:prstGeom prst="roundRect">
            <a:avLst>
              <a:gd name="adj" fmla="val 50000"/>
            </a:avLst>
          </a:prstGeom>
          <a:solidFill>
            <a:srgbClr val="2F6FED"/>
          </a:solidFill>
          <a:ln w="12700">
            <a:solidFill>
              <a:srgbClr val="333333"/>
            </a:solidFill>
            <a:prstDash val="solid"/>
          </a:ln>
        </p:spPr>
      </p:sp>
      <p:sp>
        <p:nvSpPr>
          <p:cNvPr id="12" name="Text 9"/>
          <p:cNvSpPr/>
          <p:nvPr/>
        </p:nvSpPr>
        <p:spPr>
          <a:xfrm>
            <a:off x="8065008" y="3374136"/>
            <a:ext cx="338328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10.2% → 12.7%</a:t>
            </a:r>
            <a:endParaRPr lang="en-US" sz="3000" dirty="0"/>
          </a:p>
        </p:txBody>
      </p:sp>
      <p:sp>
        <p:nvSpPr>
          <p:cNvPr id="13" name="Text 10"/>
          <p:cNvSpPr/>
          <p:nvPr/>
        </p:nvSpPr>
        <p:spPr>
          <a:xfrm>
            <a:off x="8065008" y="3904488"/>
            <a:ext cx="338328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MARGIN, 2015 TO 2018</a:t>
            </a:r>
            <a:endParaRPr lang="en-US" sz="1200" dirty="0"/>
          </a:p>
        </p:txBody>
      </p:sp>
      <p:sp>
        <p:nvSpPr>
          <p:cNvPr id="14" name="Text 11"/>
          <p:cNvSpPr/>
          <p:nvPr/>
        </p:nvSpPr>
        <p:spPr>
          <a:xfrm>
            <a:off x="8065008" y="4160520"/>
            <a:ext cx="3383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improving, but well below potential</a:t>
            </a:r>
            <a:endParaRPr lang="en-US" sz="1100" dirty="0"/>
          </a:p>
        </p:txBody>
      </p:sp>
      <p:sp>
        <p:nvSpPr>
          <p:cNvPr id="15" name="Text 12"/>
          <p:cNvSpPr/>
          <p:nvPr/>
        </p:nvSpPr>
        <p:spPr>
          <a:xfrm>
            <a:off x="7589520" y="4617720"/>
            <a:ext cx="4023360" cy="9144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Growth is not being bought with discounts</a:t>
            </a:r>
            <a:endParaRPr lang="en-US" sz="1250" dirty="0"/>
          </a:p>
          <a:p>
            <a:pPr indent="0" marL="0">
              <a:buNone/>
            </a:pPr>
            <a:r>
              <a:rPr lang="en-US" sz="1250" dirty="0">
                <a:solidFill>
                  <a:srgbClr val="6B7280"/>
                </a:solidFill>
                <a:latin typeface="Calibri" pitchFamily="34" charset="0"/>
                <a:ea typeface="Calibri" pitchFamily="34" charset="-122"/>
                <a:cs typeface="Calibri" pitchFamily="34" charset="-120"/>
              </a:rPr>
              <a:t>in aggregate — the damage is concentrated</a:t>
            </a:r>
            <a:endParaRPr lang="en-US" sz="1250" dirty="0"/>
          </a:p>
          <a:p>
            <a:pPr indent="0" marL="0">
              <a:buNone/>
            </a:pPr>
            <a:r>
              <a:rPr lang="en-US" sz="1250" dirty="0">
                <a:solidFill>
                  <a:srgbClr val="6B7280"/>
                </a:solidFill>
                <a:latin typeface="Calibri" pitchFamily="34" charset="0"/>
                <a:ea typeface="Calibri" pitchFamily="34" charset="-122"/>
                <a:cs typeface="Calibri" pitchFamily="34" charset="-120"/>
              </a:rPr>
              <a:t>in a narrow band of deep discounts.</a:t>
            </a:r>
            <a:endParaRPr lang="en-US" sz="1250" dirty="0"/>
          </a:p>
        </p:txBody>
      </p:sp>
      <p:sp>
        <p:nvSpPr>
          <p:cNvPr id="16" name="Text 13"/>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Query 3, analysis_queries.sql. 2016 declined 2.8% before recovery.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Where the customer value sits</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RFM segmentation of all 793 customers by recency, frequency and monetary value.</a:t>
            </a:r>
            <a:endParaRPr lang="en-US" sz="1400" dirty="0"/>
          </a:p>
        </p:txBody>
      </p:sp>
      <p:graphicFrame>
        <p:nvGraphicFramePr>
          <p:cNvPr id="4" name="Chart 0" descr=""/>
          <p:cNvGraphicFramePr/>
          <p:nvPr/>
        </p:nvGraphicFramePr>
        <p:xfrm>
          <a:off x="548640" y="1600200"/>
          <a:ext cx="676656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73936"/>
            <a:ext cx="384048" cy="384048"/>
          </a:xfrm>
          <a:prstGeom prst="ellipse">
            <a:avLst/>
          </a:prstGeom>
          <a:solidFill>
            <a:srgbClr val="16A888"/>
          </a:solidFill>
          <a:ln w="12700">
            <a:solidFill>
              <a:srgbClr val="333333"/>
            </a:solidFill>
            <a:prstDash val="solid"/>
          </a:ln>
        </p:spPr>
      </p:sp>
      <p:sp>
        <p:nvSpPr>
          <p:cNvPr id="6" name="Text 3"/>
          <p:cNvSpPr/>
          <p:nvPr/>
        </p:nvSpPr>
        <p:spPr>
          <a:xfrm>
            <a:off x="7589520" y="17739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8156448" y="1737360"/>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Champions and Loyal are 71% of revenue</a:t>
            </a:r>
            <a:endParaRPr lang="en-US" sz="1500" dirty="0"/>
          </a:p>
        </p:txBody>
      </p:sp>
      <p:sp>
        <p:nvSpPr>
          <p:cNvPr id="8" name="Text 5"/>
          <p:cNvSpPr/>
          <p:nvPr/>
        </p:nvSpPr>
        <p:spPr>
          <a:xfrm>
            <a:off x="8156448" y="2029968"/>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378 accounts. This is the retention list.</a:t>
            </a:r>
            <a:endParaRPr lang="en-US" sz="1250" dirty="0"/>
          </a:p>
        </p:txBody>
      </p:sp>
      <p:sp>
        <p:nvSpPr>
          <p:cNvPr id="9" name="Shape 6"/>
          <p:cNvSpPr/>
          <p:nvPr/>
        </p:nvSpPr>
        <p:spPr>
          <a:xfrm>
            <a:off x="7589520" y="2944368"/>
            <a:ext cx="384048" cy="384048"/>
          </a:xfrm>
          <a:prstGeom prst="ellipse">
            <a:avLst/>
          </a:prstGeom>
          <a:solidFill>
            <a:srgbClr val="E03131"/>
          </a:solidFill>
          <a:ln w="12700">
            <a:solidFill>
              <a:srgbClr val="333333"/>
            </a:solidFill>
            <a:prstDash val="solid"/>
          </a:ln>
        </p:spPr>
      </p:sp>
      <p:sp>
        <p:nvSpPr>
          <p:cNvPr id="10" name="Text 7"/>
          <p:cNvSpPr/>
          <p:nvPr/>
        </p:nvSpPr>
        <p:spPr>
          <a:xfrm>
            <a:off x="7589520"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8156448" y="2907792"/>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At Risk is 197 customers, 8.4% of revenue</a:t>
            </a:r>
            <a:endParaRPr lang="en-US" sz="1500" dirty="0"/>
          </a:p>
        </p:txBody>
      </p:sp>
      <p:sp>
        <p:nvSpPr>
          <p:cNvPr id="12" name="Text 9"/>
          <p:cNvSpPr/>
          <p:nvPr/>
        </p:nvSpPr>
        <p:spPr>
          <a:xfrm>
            <a:off x="8156448" y="3200400"/>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Average 329 days since last order — automate, don't staff it.</a:t>
            </a:r>
            <a:endParaRPr lang="en-US" sz="1250" dirty="0"/>
          </a:p>
        </p:txBody>
      </p:sp>
      <p:sp>
        <p:nvSpPr>
          <p:cNvPr id="13" name="Shape 10"/>
          <p:cNvSpPr/>
          <p:nvPr/>
        </p:nvSpPr>
        <p:spPr>
          <a:xfrm>
            <a:off x="7589520" y="4114800"/>
            <a:ext cx="384048" cy="384048"/>
          </a:xfrm>
          <a:prstGeom prst="ellipse">
            <a:avLst/>
          </a:prstGeom>
          <a:solidFill>
            <a:srgbClr val="2F6FED"/>
          </a:solidFill>
          <a:ln w="12700">
            <a:solidFill>
              <a:srgbClr val="333333"/>
            </a:solidFill>
            <a:prstDash val="solid"/>
          </a:ln>
        </p:spPr>
      </p:sp>
      <p:sp>
        <p:nvSpPr>
          <p:cNvPr id="14" name="Text 11"/>
          <p:cNvSpPr/>
          <p:nvPr/>
        </p:nvSpPr>
        <p:spPr>
          <a:xfrm>
            <a:off x="7589520"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8156448" y="4078224"/>
            <a:ext cx="345643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Top 20% produce 48% of revenue</a:t>
            </a:r>
            <a:endParaRPr lang="en-US" sz="1500" dirty="0"/>
          </a:p>
        </p:txBody>
      </p:sp>
      <p:sp>
        <p:nvSpPr>
          <p:cNvPr id="16" name="Text 13"/>
          <p:cNvSpPr/>
          <p:nvPr/>
        </p:nvSpPr>
        <p:spPr>
          <a:xfrm>
            <a:off x="8156448" y="4370832"/>
            <a:ext cx="345643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Real concentration, but not the 80/20 usually assumed.</a:t>
            </a:r>
            <a:endParaRPr lang="en-US" sz="1250" dirty="0"/>
          </a:p>
        </p:txBody>
      </p:sp>
      <p:sp>
        <p:nvSpPr>
          <p:cNvPr id="17" name="Text 14"/>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Query 22, analysis_queries.sql. RFM scored 1–5 per dimension.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What a discount cap is worth</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Simulated total profit at each maximum discount level.</a:t>
            </a:r>
            <a:endParaRPr lang="en-US" sz="1400" dirty="0"/>
          </a:p>
        </p:txBody>
      </p:sp>
      <p:graphicFrame>
        <p:nvGraphicFramePr>
          <p:cNvPr id="4" name="Chart 0" descr=""/>
          <p:cNvGraphicFramePr/>
          <p:nvPr/>
        </p:nvGraphicFramePr>
        <p:xfrm>
          <a:off x="548640" y="15544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91640"/>
            <a:ext cx="4023360" cy="1463040"/>
          </a:xfrm>
          <a:prstGeom prst="roundRect">
            <a:avLst>
              <a:gd name="adj" fmla="val 5625"/>
            </a:avLst>
          </a:prstGeom>
          <a:solidFill>
            <a:srgbClr val="EEF1F6"/>
          </a:solidFill>
          <a:ln w="12700">
            <a:solidFill>
              <a:srgbClr val="E1E6F0"/>
            </a:solidFill>
            <a:prstDash val="solid"/>
          </a:ln>
        </p:spPr>
      </p:sp>
      <p:sp>
        <p:nvSpPr>
          <p:cNvPr id="6" name="Shape 3"/>
          <p:cNvSpPr/>
          <p:nvPr/>
        </p:nvSpPr>
        <p:spPr>
          <a:xfrm>
            <a:off x="7863840" y="2002536"/>
            <a:ext cx="91440" cy="310896"/>
          </a:xfrm>
          <a:prstGeom prst="roundRect">
            <a:avLst>
              <a:gd name="adj" fmla="val 50000"/>
            </a:avLst>
          </a:prstGeom>
          <a:solidFill>
            <a:srgbClr val="16A888"/>
          </a:solidFill>
          <a:ln w="12700">
            <a:solidFill>
              <a:srgbClr val="333333"/>
            </a:solidFill>
            <a:prstDash val="solid"/>
          </a:ln>
        </p:spPr>
      </p:sp>
      <p:sp>
        <p:nvSpPr>
          <p:cNvPr id="7" name="Text 4"/>
          <p:cNvSpPr/>
          <p:nvPr/>
        </p:nvSpPr>
        <p:spPr>
          <a:xfrm>
            <a:off x="8065008" y="1911096"/>
            <a:ext cx="338328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$432,855</a:t>
            </a:r>
            <a:endParaRPr lang="en-US" sz="3000" dirty="0"/>
          </a:p>
        </p:txBody>
      </p:sp>
      <p:sp>
        <p:nvSpPr>
          <p:cNvPr id="8" name="Text 5"/>
          <p:cNvSpPr/>
          <p:nvPr/>
        </p:nvSpPr>
        <p:spPr>
          <a:xfrm>
            <a:off x="8065008" y="2441448"/>
            <a:ext cx="338328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PROFIT AT A 30% CAP</a:t>
            </a:r>
            <a:endParaRPr lang="en-US" sz="1200" dirty="0"/>
          </a:p>
        </p:txBody>
      </p:sp>
      <p:sp>
        <p:nvSpPr>
          <p:cNvPr id="9" name="Text 6"/>
          <p:cNvSpPr/>
          <p:nvPr/>
        </p:nvSpPr>
        <p:spPr>
          <a:xfrm>
            <a:off x="8065008" y="2697480"/>
            <a:ext cx="3383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+51% against today</a:t>
            </a:r>
            <a:endParaRPr lang="en-US" sz="1100" dirty="0"/>
          </a:p>
        </p:txBody>
      </p:sp>
      <p:sp>
        <p:nvSpPr>
          <p:cNvPr id="10" name="Text 7"/>
          <p:cNvSpPr/>
          <p:nvPr/>
        </p:nvSpPr>
        <p:spPr>
          <a:xfrm>
            <a:off x="7589520" y="3337560"/>
            <a:ext cx="4023360" cy="320040"/>
          </a:xfrm>
          <a:prstGeom prst="rect">
            <a:avLst/>
          </a:prstGeom>
          <a:noFill/>
          <a:ln/>
        </p:spPr>
        <p:txBody>
          <a:bodyPr wrap="square" lIns="0" tIns="0" rIns="0" bIns="0" rtlCol="0" anchor="ctr"/>
          <a:lstStyle/>
          <a:p>
            <a:pPr indent="0" marL="0">
              <a:buNone/>
            </a:pPr>
            <a:r>
              <a:rPr lang="en-US" sz="1400" b="1" dirty="0">
                <a:solidFill>
                  <a:srgbClr val="101F4F"/>
                </a:solidFill>
                <a:latin typeface="Calibri" pitchFamily="34" charset="0"/>
                <a:ea typeface="Calibri" pitchFamily="34" charset="-122"/>
                <a:cs typeface="Calibri" pitchFamily="34" charset="-120"/>
              </a:rPr>
              <a:t>Why 30% and not lower</a:t>
            </a:r>
            <a:endParaRPr lang="en-US" sz="1400" dirty="0"/>
          </a:p>
        </p:txBody>
      </p:sp>
      <p:sp>
        <p:nvSpPr>
          <p:cNvPr id="11" name="Text 8"/>
          <p:cNvSpPr/>
          <p:nvPr/>
        </p:nvSpPr>
        <p:spPr>
          <a:xfrm>
            <a:off x="7589520" y="3703320"/>
            <a:ext cx="4023360" cy="14630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The curve flattens at 30%. Tightening further returns less per order affected while touching far more of the book.</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A 30% rule affects one line in nine. A 20% rule affects nearly half.</a:t>
            </a:r>
            <a:endParaRPr lang="en-US" sz="1250" dirty="0"/>
          </a:p>
        </p:txBody>
      </p:sp>
      <p:sp>
        <p:nvSpPr>
          <p:cNvPr id="12" name="Text 9"/>
          <p:cNvSpPr/>
          <p:nvPr/>
        </p:nvSpPr>
        <p:spPr>
          <a:xfrm>
            <a:off x="548640" y="6291072"/>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Upper bound: assumes each sale still closes at the lower discount. Some would not — see method.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Recommendations</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Ordered by value against effort. The first one carries most of the benefit.</a:t>
            </a:r>
            <a:endParaRPr lang="en-US" sz="1400" dirty="0"/>
          </a:p>
        </p:txBody>
      </p:sp>
      <p:sp>
        <p:nvSpPr>
          <p:cNvPr id="4" name="Shape 2"/>
          <p:cNvSpPr/>
          <p:nvPr/>
        </p:nvSpPr>
        <p:spPr>
          <a:xfrm>
            <a:off x="548640" y="1591056"/>
            <a:ext cx="384048" cy="384048"/>
          </a:xfrm>
          <a:prstGeom prst="ellipse">
            <a:avLst/>
          </a:prstGeom>
          <a:solidFill>
            <a:srgbClr val="E03131"/>
          </a:solidFill>
          <a:ln w="12700">
            <a:solidFill>
              <a:srgbClr val="333333"/>
            </a:solidFill>
            <a:prstDash val="solid"/>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1554480"/>
            <a:ext cx="693115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Require approval for any discount above 30%</a:t>
            </a:r>
            <a:endParaRPr lang="en-US" sz="1500" dirty="0"/>
          </a:p>
        </p:txBody>
      </p:sp>
      <p:sp>
        <p:nvSpPr>
          <p:cNvPr id="7" name="Text 5"/>
          <p:cNvSpPr/>
          <p:nvPr/>
        </p:nvSpPr>
        <p:spPr>
          <a:xfrm>
            <a:off x="1115568" y="1847088"/>
            <a:ext cx="693115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Worth +44% to +51% of profit. Affects 11.7% of order lines. Pilot in Central first.</a:t>
            </a:r>
            <a:endParaRPr lang="en-US" sz="1250" dirty="0"/>
          </a:p>
        </p:txBody>
      </p:sp>
      <p:sp>
        <p:nvSpPr>
          <p:cNvPr id="8" name="Shape 6"/>
          <p:cNvSpPr/>
          <p:nvPr/>
        </p:nvSpPr>
        <p:spPr>
          <a:xfrm>
            <a:off x="548640" y="2551176"/>
            <a:ext cx="384048" cy="384048"/>
          </a:xfrm>
          <a:prstGeom prst="ellipse">
            <a:avLst/>
          </a:prstGeom>
          <a:solidFill>
            <a:srgbClr val="F5B820"/>
          </a:solidFill>
          <a:ln w="12700">
            <a:solidFill>
              <a:srgbClr val="333333"/>
            </a:solidFill>
            <a:prstDash val="solid"/>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15568" y="2514600"/>
            <a:ext cx="693115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Reprice or discontinue Tables and Bookcases</a:t>
            </a:r>
            <a:endParaRPr lang="en-US" sz="1500" dirty="0"/>
          </a:p>
        </p:txBody>
      </p:sp>
      <p:sp>
        <p:nvSpPr>
          <p:cNvPr id="11" name="Text 9"/>
          <p:cNvSpPr/>
          <p:nvPr/>
        </p:nvSpPr>
        <p:spPr>
          <a:xfrm>
            <a:off x="1115568" y="2807208"/>
            <a:ext cx="693115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Removes a $21K annual loss. Tables carry the deepest discounts in the catalogue.</a:t>
            </a:r>
            <a:endParaRPr lang="en-US" sz="1250" dirty="0"/>
          </a:p>
        </p:txBody>
      </p:sp>
      <p:sp>
        <p:nvSpPr>
          <p:cNvPr id="12" name="Shape 10"/>
          <p:cNvSpPr/>
          <p:nvPr/>
        </p:nvSpPr>
        <p:spPr>
          <a:xfrm>
            <a:off x="548640" y="3511296"/>
            <a:ext cx="384048" cy="384048"/>
          </a:xfrm>
          <a:prstGeom prst="ellipse">
            <a:avLst/>
          </a:prstGeom>
          <a:solidFill>
            <a:srgbClr val="7B45C9"/>
          </a:solidFill>
          <a:ln w="12700">
            <a:solidFill>
              <a:srgbClr val="333333"/>
            </a:solidFill>
            <a:prstDash val="solid"/>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15568" y="3474720"/>
            <a:ext cx="693115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Audit pricing authority in Central region</a:t>
            </a:r>
            <a:endParaRPr lang="en-US" sz="1500" dirty="0"/>
          </a:p>
        </p:txBody>
      </p:sp>
      <p:sp>
        <p:nvSpPr>
          <p:cNvPr id="15" name="Text 13"/>
          <p:cNvSpPr/>
          <p:nvPr/>
        </p:nvSpPr>
        <p:spPr>
          <a:xfrm>
            <a:off x="1115568" y="3767328"/>
            <a:ext cx="693115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24.0% average discount against West's 10.9%, for half the margin.</a:t>
            </a:r>
            <a:endParaRPr lang="en-US" sz="1250" dirty="0"/>
          </a:p>
        </p:txBody>
      </p:sp>
      <p:sp>
        <p:nvSpPr>
          <p:cNvPr id="16" name="Shape 14"/>
          <p:cNvSpPr/>
          <p:nvPr/>
        </p:nvSpPr>
        <p:spPr>
          <a:xfrm>
            <a:off x="548640" y="4471416"/>
            <a:ext cx="384048" cy="384048"/>
          </a:xfrm>
          <a:prstGeom prst="ellipse">
            <a:avLst/>
          </a:prstGeom>
          <a:solidFill>
            <a:srgbClr val="2F6FED"/>
          </a:solidFill>
          <a:ln w="12700">
            <a:solidFill>
              <a:srgbClr val="333333"/>
            </a:solidFill>
            <a:prstDash val="solid"/>
          </a:ln>
        </p:spPr>
      </p:sp>
      <p:sp>
        <p:nvSpPr>
          <p:cNvPr id="17" name="Text 15"/>
          <p:cNvSpPr/>
          <p:nvPr/>
        </p:nvSpPr>
        <p:spPr>
          <a:xfrm>
            <a:off x="548640" y="4471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15568" y="4434840"/>
            <a:ext cx="693115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Review the 10 loss-making states and Philadelphia</a:t>
            </a:r>
            <a:endParaRPr lang="en-US" sz="1500" dirty="0"/>
          </a:p>
        </p:txBody>
      </p:sp>
      <p:sp>
        <p:nvSpPr>
          <p:cNvPr id="19" name="Text 17"/>
          <p:cNvSpPr/>
          <p:nvPr/>
        </p:nvSpPr>
        <p:spPr>
          <a:xfrm>
            <a:off x="1115568" y="4727448"/>
            <a:ext cx="693115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Philadelphia is 5th by revenue and loses $13,838. Revenue rank is hiding it.</a:t>
            </a:r>
            <a:endParaRPr lang="en-US" sz="1250" dirty="0"/>
          </a:p>
        </p:txBody>
      </p:sp>
      <p:sp>
        <p:nvSpPr>
          <p:cNvPr id="20" name="Shape 18"/>
          <p:cNvSpPr/>
          <p:nvPr/>
        </p:nvSpPr>
        <p:spPr>
          <a:xfrm>
            <a:off x="548640" y="5431536"/>
            <a:ext cx="384048" cy="384048"/>
          </a:xfrm>
          <a:prstGeom prst="ellipse">
            <a:avLst/>
          </a:prstGeom>
          <a:solidFill>
            <a:srgbClr val="16A888"/>
          </a:solidFill>
          <a:ln w="12700">
            <a:solidFill>
              <a:srgbClr val="333333"/>
            </a:solidFill>
            <a:prstDash val="solid"/>
          </a:ln>
        </p:spPr>
      </p:sp>
      <p:sp>
        <p:nvSpPr>
          <p:cNvPr id="21" name="Text 19"/>
          <p:cNvSpPr/>
          <p:nvPr/>
        </p:nvSpPr>
        <p:spPr>
          <a:xfrm>
            <a:off x="548640" y="54315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15568" y="5394960"/>
            <a:ext cx="6931152" cy="292608"/>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Weight inventory and campaign spend to Sep–Dec</a:t>
            </a:r>
            <a:endParaRPr lang="en-US" sz="1500" dirty="0"/>
          </a:p>
        </p:txBody>
      </p:sp>
      <p:sp>
        <p:nvSpPr>
          <p:cNvPr id="23" name="Text 21"/>
          <p:cNvSpPr/>
          <p:nvPr/>
        </p:nvSpPr>
        <p:spPr>
          <a:xfrm>
            <a:off x="1115568" y="5687568"/>
            <a:ext cx="6931152"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November and December peak in all four years; January and February trail.</a:t>
            </a:r>
            <a:endParaRPr lang="en-US" sz="1250" dirty="0"/>
          </a:p>
        </p:txBody>
      </p:sp>
      <p:sp>
        <p:nvSpPr>
          <p:cNvPr id="24" name="Shape 22"/>
          <p:cNvSpPr/>
          <p:nvPr/>
        </p:nvSpPr>
        <p:spPr>
          <a:xfrm>
            <a:off x="8412480" y="1737360"/>
            <a:ext cx="3200400" cy="1554480"/>
          </a:xfrm>
          <a:prstGeom prst="roundRect">
            <a:avLst>
              <a:gd name="adj" fmla="val 5294"/>
            </a:avLst>
          </a:prstGeom>
          <a:solidFill>
            <a:srgbClr val="EEF1F6"/>
          </a:solidFill>
          <a:ln w="12700">
            <a:solidFill>
              <a:srgbClr val="E1E6F0"/>
            </a:solidFill>
            <a:prstDash val="solid"/>
          </a:ln>
        </p:spPr>
      </p:sp>
      <p:sp>
        <p:nvSpPr>
          <p:cNvPr id="25" name="Shape 23"/>
          <p:cNvSpPr/>
          <p:nvPr/>
        </p:nvSpPr>
        <p:spPr>
          <a:xfrm>
            <a:off x="8686800" y="2048256"/>
            <a:ext cx="91440" cy="310896"/>
          </a:xfrm>
          <a:prstGeom prst="roundRect">
            <a:avLst>
              <a:gd name="adj" fmla="val 50000"/>
            </a:avLst>
          </a:prstGeom>
          <a:solidFill>
            <a:srgbClr val="E03131"/>
          </a:solidFill>
          <a:ln w="12700">
            <a:solidFill>
              <a:srgbClr val="333333"/>
            </a:solidFill>
            <a:prstDash val="solid"/>
          </a:ln>
        </p:spPr>
      </p:sp>
      <p:sp>
        <p:nvSpPr>
          <p:cNvPr id="26" name="Text 24"/>
          <p:cNvSpPr/>
          <p:nvPr/>
        </p:nvSpPr>
        <p:spPr>
          <a:xfrm>
            <a:off x="8887968" y="1956816"/>
            <a:ext cx="256032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$125,007</a:t>
            </a:r>
            <a:endParaRPr lang="en-US" sz="3000" dirty="0"/>
          </a:p>
        </p:txBody>
      </p:sp>
      <p:sp>
        <p:nvSpPr>
          <p:cNvPr id="27" name="Text 25"/>
          <p:cNvSpPr/>
          <p:nvPr/>
        </p:nvSpPr>
        <p:spPr>
          <a:xfrm>
            <a:off x="8887968" y="2487168"/>
            <a:ext cx="256032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AT STAKE</a:t>
            </a:r>
            <a:endParaRPr lang="en-US" sz="1200" dirty="0"/>
          </a:p>
        </p:txBody>
      </p:sp>
      <p:sp>
        <p:nvSpPr>
          <p:cNvPr id="28" name="Text 26"/>
          <p:cNvSpPr/>
          <p:nvPr/>
        </p:nvSpPr>
        <p:spPr>
          <a:xfrm>
            <a:off x="8887968" y="2743200"/>
            <a:ext cx="25603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recoverable profit</a:t>
            </a:r>
            <a:endParaRPr lang="en-US" sz="1100" dirty="0"/>
          </a:p>
        </p:txBody>
      </p:sp>
      <p:sp>
        <p:nvSpPr>
          <p:cNvPr id="29" name="Shape 27"/>
          <p:cNvSpPr/>
          <p:nvPr/>
        </p:nvSpPr>
        <p:spPr>
          <a:xfrm>
            <a:off x="8412480" y="3474720"/>
            <a:ext cx="3200400" cy="1554480"/>
          </a:xfrm>
          <a:prstGeom prst="roundRect">
            <a:avLst>
              <a:gd name="adj" fmla="val 5294"/>
            </a:avLst>
          </a:prstGeom>
          <a:solidFill>
            <a:srgbClr val="EEF1F6"/>
          </a:solidFill>
          <a:ln w="12700">
            <a:solidFill>
              <a:srgbClr val="E1E6F0"/>
            </a:solidFill>
            <a:prstDash val="solid"/>
          </a:ln>
        </p:spPr>
      </p:sp>
      <p:sp>
        <p:nvSpPr>
          <p:cNvPr id="30" name="Shape 28"/>
          <p:cNvSpPr/>
          <p:nvPr/>
        </p:nvSpPr>
        <p:spPr>
          <a:xfrm>
            <a:off x="8686800" y="3785616"/>
            <a:ext cx="91440" cy="310896"/>
          </a:xfrm>
          <a:prstGeom prst="roundRect">
            <a:avLst>
              <a:gd name="adj" fmla="val 50000"/>
            </a:avLst>
          </a:prstGeom>
          <a:solidFill>
            <a:srgbClr val="16A888"/>
          </a:solidFill>
          <a:ln w="12700">
            <a:solidFill>
              <a:srgbClr val="333333"/>
            </a:solidFill>
            <a:prstDash val="solid"/>
          </a:ln>
        </p:spPr>
      </p:sp>
      <p:sp>
        <p:nvSpPr>
          <p:cNvPr id="31" name="Text 29"/>
          <p:cNvSpPr/>
          <p:nvPr/>
        </p:nvSpPr>
        <p:spPr>
          <a:xfrm>
            <a:off x="8887968" y="3694176"/>
            <a:ext cx="2560320" cy="512064"/>
          </a:xfrm>
          <a:prstGeom prst="rect">
            <a:avLst/>
          </a:prstGeom>
          <a:noFill/>
          <a:ln/>
        </p:spPr>
        <p:txBody>
          <a:bodyPr wrap="square" lIns="0" tIns="0" rIns="0" bIns="0" rtlCol="0" anchor="ctr"/>
          <a:lstStyle/>
          <a:p>
            <a:pPr indent="0" marL="0">
              <a:buNone/>
            </a:pPr>
            <a:r>
              <a:rPr lang="en-US" sz="3000" b="1" dirty="0">
                <a:solidFill>
                  <a:srgbClr val="101F4F"/>
                </a:solidFill>
                <a:latin typeface="Cambria" pitchFamily="34" charset="0"/>
                <a:ea typeface="Cambria" pitchFamily="34" charset="-122"/>
                <a:cs typeface="Cambria" pitchFamily="34" charset="-120"/>
              </a:rPr>
              <a:t>1 in 9</a:t>
            </a:r>
            <a:endParaRPr lang="en-US" sz="3000" dirty="0"/>
          </a:p>
        </p:txBody>
      </p:sp>
      <p:sp>
        <p:nvSpPr>
          <p:cNvPr id="32" name="Text 30"/>
          <p:cNvSpPr/>
          <p:nvPr/>
        </p:nvSpPr>
        <p:spPr>
          <a:xfrm>
            <a:off x="8887968" y="4224528"/>
            <a:ext cx="2560320" cy="274320"/>
          </a:xfrm>
          <a:prstGeom prst="rect">
            <a:avLst/>
          </a:prstGeom>
          <a:noFill/>
          <a:ln/>
        </p:spPr>
        <p:txBody>
          <a:bodyPr wrap="square" lIns="0" tIns="0" rIns="0" bIns="0" rtlCol="0" anchor="ctr"/>
          <a:lstStyle/>
          <a:p>
            <a:pPr indent="0" marL="0">
              <a:buNone/>
            </a:pPr>
            <a:r>
              <a:rPr lang="en-US" sz="1200" b="1" spc="100" kern="0" dirty="0">
                <a:solidFill>
                  <a:srgbClr val="1F2937"/>
                </a:solidFill>
                <a:latin typeface="Calibri" pitchFamily="34" charset="0"/>
                <a:ea typeface="Calibri" pitchFamily="34" charset="-122"/>
                <a:cs typeface="Calibri" pitchFamily="34" charset="-120"/>
              </a:rPr>
              <a:t>ORDER LINES AFFECTED</a:t>
            </a:r>
            <a:endParaRPr lang="en-US" sz="1200" dirty="0"/>
          </a:p>
        </p:txBody>
      </p:sp>
      <p:sp>
        <p:nvSpPr>
          <p:cNvPr id="33" name="Text 31"/>
          <p:cNvSpPr/>
          <p:nvPr/>
        </p:nvSpPr>
        <p:spPr>
          <a:xfrm>
            <a:off x="8887968" y="4480560"/>
            <a:ext cx="25603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by the 30% rule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11064240" cy="566928"/>
          </a:xfrm>
          <a:prstGeom prst="rect">
            <a:avLst/>
          </a:prstGeom>
          <a:noFill/>
          <a:ln/>
        </p:spPr>
        <p:txBody>
          <a:bodyPr wrap="square" lIns="0" tIns="0" rIns="0" bIns="0" rtlCol="0" anchor="ctr"/>
          <a:lstStyle/>
          <a:p>
            <a:pPr indent="0" marL="0">
              <a:buNone/>
            </a:pPr>
            <a:r>
              <a:rPr lang="en-US" sz="3200" b="1" dirty="0">
                <a:solidFill>
                  <a:srgbClr val="101F4F"/>
                </a:solidFill>
                <a:latin typeface="Cambria" pitchFamily="34" charset="0"/>
                <a:ea typeface="Cambria" pitchFamily="34" charset="-122"/>
                <a:cs typeface="Cambria" pitchFamily="34" charset="-120"/>
              </a:rPr>
              <a:t>Method and limitations</a:t>
            </a:r>
            <a:endParaRPr lang="en-US" sz="3200" dirty="0"/>
          </a:p>
        </p:txBody>
      </p:sp>
      <p:sp>
        <p:nvSpPr>
          <p:cNvPr id="3" name="Text 1"/>
          <p:cNvSpPr/>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was done, and what these numbers cannot tell you.</a:t>
            </a:r>
            <a:endParaRPr lang="en-US" sz="1400" dirty="0"/>
          </a:p>
        </p:txBody>
      </p:sp>
      <p:sp>
        <p:nvSpPr>
          <p:cNvPr id="4" name="Text 2"/>
          <p:cNvSpPr/>
          <p:nvPr/>
        </p:nvSpPr>
        <p:spPr>
          <a:xfrm>
            <a:off x="548640" y="1463040"/>
            <a:ext cx="5394960" cy="320040"/>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How it was built</a:t>
            </a:r>
            <a:endParaRPr lang="en-US" sz="1500" dirty="0"/>
          </a:p>
        </p:txBody>
      </p:sp>
      <p:sp>
        <p:nvSpPr>
          <p:cNvPr id="5" name="Text 3"/>
          <p:cNvSpPr/>
          <p:nvPr/>
        </p:nvSpPr>
        <p:spPr>
          <a:xfrm>
            <a:off x="548640" y="1828800"/>
            <a:ext cx="539496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10,800 raw rows cleaned to 9,993: removed 806 empty records and 504 duplicates.</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26 engineered features; star schema in SQL with 30 analysis queries.</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Totals reconciled independently across Python, SQL and Excel.</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15 of 15 automated validation rules pass.</a:t>
            </a:r>
            <a:endParaRPr lang="en-US" sz="1300" dirty="0"/>
          </a:p>
        </p:txBody>
      </p:sp>
      <p:sp>
        <p:nvSpPr>
          <p:cNvPr id="6" name="Text 4"/>
          <p:cNvSpPr/>
          <p:nvPr/>
        </p:nvSpPr>
        <p:spPr>
          <a:xfrm>
            <a:off x="6400800" y="1463040"/>
            <a:ext cx="5212080" cy="320040"/>
          </a:xfrm>
          <a:prstGeom prst="rect">
            <a:avLst/>
          </a:prstGeom>
          <a:noFill/>
          <a:ln/>
        </p:spPr>
        <p:txBody>
          <a:bodyPr wrap="square" lIns="0" tIns="0" rIns="0" bIns="0" rtlCol="0" anchor="ctr"/>
          <a:lstStyle/>
          <a:p>
            <a:pPr indent="0" marL="0">
              <a:buNone/>
            </a:pPr>
            <a:r>
              <a:rPr lang="en-US" sz="1500" b="1" dirty="0">
                <a:solidFill>
                  <a:srgbClr val="101F4F"/>
                </a:solidFill>
                <a:latin typeface="Calibri" pitchFamily="34" charset="0"/>
                <a:ea typeface="Calibri" pitchFamily="34" charset="-122"/>
                <a:cs typeface="Calibri" pitchFamily="34" charset="-120"/>
              </a:rPr>
              <a:t>What it cannot tell you</a:t>
            </a:r>
            <a:endParaRPr lang="en-US" sz="1500" dirty="0"/>
          </a:p>
        </p:txBody>
      </p:sp>
      <p:sp>
        <p:nvSpPr>
          <p:cNvPr id="7" name="Text 5"/>
          <p:cNvSpPr/>
          <p:nvPr/>
        </p:nvSpPr>
        <p:spPr>
          <a:xfrm>
            <a:off x="6400800" y="1828800"/>
            <a:ext cx="5212080" cy="31089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Correlation, not causation. Deep discounts coincide with losses; the data cannot prove the discount caused it rather than both following from clearing slow stock.</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The cap simulation assumes every sale still closes at the lower discount. Some customers would walk, so treat it as an upper bound.</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No COGS column, so margin uses the supplied profit figure at face value.</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The 3-month forecast has 18.8% backtest error — usable for direction, not for committing budget.</a:t>
            </a:r>
            <a:endParaRPr lang="en-US" sz="1300" dirty="0"/>
          </a:p>
        </p:txBody>
      </p:sp>
      <p:sp>
        <p:nvSpPr>
          <p:cNvPr id="8" name="Shape 6"/>
          <p:cNvSpPr/>
          <p:nvPr/>
        </p:nvSpPr>
        <p:spPr>
          <a:xfrm>
            <a:off x="548640" y="5074920"/>
            <a:ext cx="11064240" cy="914400"/>
          </a:xfrm>
          <a:prstGeom prst="roundRect">
            <a:avLst>
              <a:gd name="adj" fmla="val 10000"/>
            </a:avLst>
          </a:prstGeom>
          <a:solidFill>
            <a:srgbClr val="EEF1F6"/>
          </a:solidFill>
          <a:ln w="12700">
            <a:solidFill>
              <a:srgbClr val="E1E6F0"/>
            </a:solidFill>
            <a:prstDash val="solid"/>
          </a:ln>
        </p:spPr>
      </p:sp>
      <p:sp>
        <p:nvSpPr>
          <p:cNvPr id="9" name="Text 7"/>
          <p:cNvSpPr/>
          <p:nvPr/>
        </p:nvSpPr>
        <p:spPr>
          <a:xfrm>
            <a:off x="868680" y="5230368"/>
            <a:ext cx="1042416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Recommended next step: run the 30% cap as a 90-day pilot in Central region and measure realised margin against the control regions. That converts an estimate into a decision.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F4F"/>
        </a:solidFill>
      </p:bgPr>
    </p:bg>
    <p:spTree>
      <p:nvGrpSpPr>
        <p:cNvPr id="1" name=""/>
        <p:cNvGrpSpPr/>
        <p:nvPr/>
      </p:nvGrpSpPr>
      <p:grpSpPr>
        <a:xfrm>
          <a:off x="0" y="0"/>
          <a:ext cx="0" cy="0"/>
          <a:chOff x="0" y="0"/>
          <a:chExt cx="0" cy="0"/>
        </a:xfrm>
      </p:grpSpPr>
      <p:sp>
        <p:nvSpPr>
          <p:cNvPr id="2" name="Text 0"/>
          <p:cNvSpPr/>
          <p:nvPr/>
        </p:nvSpPr>
        <p:spPr>
          <a:xfrm>
            <a:off x="548640" y="1417320"/>
            <a:ext cx="11064240" cy="310896"/>
          </a:xfrm>
          <a:prstGeom prst="rect">
            <a:avLst/>
          </a:prstGeom>
          <a:noFill/>
          <a:ln/>
        </p:spPr>
        <p:txBody>
          <a:bodyPr wrap="square" rtlCol="0" anchor="ctr"/>
          <a:lstStyle/>
          <a:p>
            <a:pPr indent="0" marL="0">
              <a:buNone/>
            </a:pPr>
            <a:r>
              <a:rPr lang="en-US" sz="1300" b="1" spc="300" kern="0" dirty="0">
                <a:solidFill>
                  <a:srgbClr val="F5B820"/>
                </a:solidFill>
                <a:latin typeface="Calibri" pitchFamily="34" charset="0"/>
                <a:ea typeface="Calibri" pitchFamily="34" charset="-122"/>
                <a:cs typeface="Calibri" pitchFamily="34" charset="-120"/>
              </a:rPr>
              <a:t>IN ONE LINE</a:t>
            </a:r>
            <a:endParaRPr lang="en-US" sz="1300" dirty="0"/>
          </a:p>
        </p:txBody>
      </p:sp>
      <p:sp>
        <p:nvSpPr>
          <p:cNvPr id="3" name="Text 1"/>
          <p:cNvSpPr/>
          <p:nvPr/>
        </p:nvSpPr>
        <p:spPr>
          <a:xfrm>
            <a:off x="548640" y="1828800"/>
            <a:ext cx="11064240" cy="1737360"/>
          </a:xfrm>
          <a:prstGeom prst="rect">
            <a:avLst/>
          </a:prstGeom>
          <a:noFill/>
          <a:ln/>
        </p:spPr>
        <p:txBody>
          <a:bodyPr wrap="square"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The business does not</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have a growth problem.</a:t>
            </a:r>
            <a:endParaRPr lang="en-US" sz="4800" dirty="0"/>
          </a:p>
        </p:txBody>
      </p:sp>
      <p:sp>
        <p:nvSpPr>
          <p:cNvPr id="4" name="Text 2"/>
          <p:cNvSpPr/>
          <p:nvPr/>
        </p:nvSpPr>
        <p:spPr>
          <a:xfrm>
            <a:off x="548640" y="3749040"/>
            <a:ext cx="9966960" cy="822960"/>
          </a:xfrm>
          <a:prstGeom prst="rect">
            <a:avLst/>
          </a:prstGeom>
          <a:noFill/>
          <a:ln/>
        </p:spPr>
        <p:txBody>
          <a:bodyPr wrap="square" rtlCol="0" anchor="ctr"/>
          <a:lstStyle/>
          <a:p>
            <a:pPr indent="0" marL="0">
              <a:buNone/>
            </a:pPr>
            <a:r>
              <a:rPr lang="en-US" sz="1600" dirty="0">
                <a:solidFill>
                  <a:srgbClr val="C0CBE6"/>
                </a:solidFill>
                <a:latin typeface="Calibri" pitchFamily="34" charset="0"/>
                <a:ea typeface="Calibri" pitchFamily="34" charset="-122"/>
                <a:cs typeface="Calibri" pitchFamily="34" charset="-120"/>
              </a:rPr>
              <a:t>It has a discounting problem — and it is worth $125,007 a year to fix.</a:t>
            </a:r>
            <a:endParaRPr lang="en-US" sz="1600" dirty="0"/>
          </a:p>
        </p:txBody>
      </p:sp>
      <p:sp>
        <p:nvSpPr>
          <p:cNvPr id="5" name="Text 3"/>
          <p:cNvSpPr/>
          <p:nvPr/>
        </p:nvSpPr>
        <p:spPr>
          <a:xfrm>
            <a:off x="548640" y="5760720"/>
            <a:ext cx="11064240" cy="365760"/>
          </a:xfrm>
          <a:prstGeom prst="rect">
            <a:avLst/>
          </a:prstGeom>
          <a:noFill/>
          <a:ln/>
        </p:spPr>
        <p:txBody>
          <a:bodyPr wrap="square" rtlCol="0" anchor="ctr"/>
          <a:lstStyle/>
          <a:p>
            <a:pPr indent="0" marL="0">
              <a:buNone/>
            </a:pPr>
            <a:r>
              <a:rPr lang="en-US" sz="1200" dirty="0">
                <a:solidFill>
                  <a:srgbClr val="8FA0C8"/>
                </a:solidFill>
                <a:latin typeface="Calibri" pitchFamily="34" charset="0"/>
                <a:ea typeface="Calibri" pitchFamily="34" charset="-122"/>
                <a:cs typeface="Calibri" pitchFamily="34" charset="-120"/>
              </a:rPr>
              <a:t>Full analysis, SQL and reproducible pipeline: github.com/YOUR-USERNAME/retail-sales-intelligence-dashboard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Intelligence</dc:title>
  <dc:subject>PptxGenJS Presentation</dc:subject>
  <dc:creator>Data Analytics</dc:creator>
  <cp:lastModifiedBy>Data Analytics</cp:lastModifiedBy>
  <cp:revision>1</cp:revision>
  <dcterms:created xsi:type="dcterms:W3CDTF">2026-07-31T11:22:13Z</dcterms:created>
  <dcterms:modified xsi:type="dcterms:W3CDTF">2026-07-31T11:22:13Z</dcterms:modified>
</cp:coreProperties>
</file>